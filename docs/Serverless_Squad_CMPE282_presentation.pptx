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Play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B2ED637-CEF0-4ABB-A032-12BF3B3000BE}">
  <a:tblStyle styleId="{8B2ED637-CEF0-4ABB-A032-12BF3B3000B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3df661a2bb9_6_6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2" name="Google Shape;542;g3df661a2bb9_6_63:notes"/>
          <p:cNvSpPr txBox="1"/>
          <p:nvPr>
            <p:ph idx="1" type="body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43" name="Google Shape;543;g3df661a2bb9_6_63:notes"/>
          <p:cNvSpPr txBox="1"/>
          <p:nvPr>
            <p:ph idx="12" type="sldNum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df661a2bb9_6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g3df661a2bb9_6_0:notes"/>
          <p:cNvSpPr txBox="1"/>
          <p:nvPr>
            <p:ph idx="1" type="body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726" name="Google Shape;726;g3df661a2bb9_6_0:notes"/>
          <p:cNvSpPr txBox="1"/>
          <p:nvPr>
            <p:ph idx="12" type="sldNum"/>
          </p:nvPr>
        </p:nvSpPr>
        <p:spPr>
          <a:xfrm>
            <a:off x="0" y="0"/>
            <a:ext cx="3000000" cy="39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4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6" name="Google Shape;78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7" name="Google Shape;787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Relationship Id="rId7" Type="http://schemas.openxmlformats.org/officeDocument/2006/relationships/image" Target="../media/image6.png"/><Relationship Id="rId8" Type="http://schemas.openxmlformats.org/officeDocument/2006/relationships/image" Target="../media/image2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40.png"/><Relationship Id="rId5" Type="http://schemas.openxmlformats.org/officeDocument/2006/relationships/image" Target="../media/image48.png"/><Relationship Id="rId6" Type="http://schemas.openxmlformats.org/officeDocument/2006/relationships/image" Target="../media/image58.png"/><Relationship Id="rId7" Type="http://schemas.openxmlformats.org/officeDocument/2006/relationships/image" Target="../media/image64.png"/><Relationship Id="rId8" Type="http://schemas.openxmlformats.org/officeDocument/2006/relationships/image" Target="../media/image3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6.png"/><Relationship Id="rId4" Type="http://schemas.openxmlformats.org/officeDocument/2006/relationships/image" Target="../media/image48.png"/><Relationship Id="rId11" Type="http://schemas.openxmlformats.org/officeDocument/2006/relationships/image" Target="../media/image64.png"/><Relationship Id="rId10" Type="http://schemas.openxmlformats.org/officeDocument/2006/relationships/image" Target="../media/image35.png"/><Relationship Id="rId9" Type="http://schemas.openxmlformats.org/officeDocument/2006/relationships/image" Target="../media/image31.png"/><Relationship Id="rId5" Type="http://schemas.openxmlformats.org/officeDocument/2006/relationships/image" Target="../media/image54.png"/><Relationship Id="rId6" Type="http://schemas.openxmlformats.org/officeDocument/2006/relationships/image" Target="../media/image51.png"/><Relationship Id="rId7" Type="http://schemas.openxmlformats.org/officeDocument/2006/relationships/image" Target="../media/image34.png"/><Relationship Id="rId8" Type="http://schemas.openxmlformats.org/officeDocument/2006/relationships/image" Target="../media/image40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81.png"/><Relationship Id="rId13" Type="http://schemas.openxmlformats.org/officeDocument/2006/relationships/image" Target="../media/image51.png"/><Relationship Id="rId12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Relationship Id="rId9" Type="http://schemas.openxmlformats.org/officeDocument/2006/relationships/image" Target="../media/image35.png"/><Relationship Id="rId5" Type="http://schemas.openxmlformats.org/officeDocument/2006/relationships/image" Target="../media/image6.png"/><Relationship Id="rId6" Type="http://schemas.openxmlformats.org/officeDocument/2006/relationships/image" Target="../media/image25.png"/><Relationship Id="rId7" Type="http://schemas.openxmlformats.org/officeDocument/2006/relationships/image" Target="../media/image36.png"/><Relationship Id="rId8" Type="http://schemas.openxmlformats.org/officeDocument/2006/relationships/image" Target="../media/image3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51.png"/><Relationship Id="rId10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9" Type="http://schemas.openxmlformats.org/officeDocument/2006/relationships/image" Target="../media/image71.png"/><Relationship Id="rId5" Type="http://schemas.openxmlformats.org/officeDocument/2006/relationships/image" Target="../media/image81.png"/><Relationship Id="rId6" Type="http://schemas.openxmlformats.org/officeDocument/2006/relationships/image" Target="../media/image40.png"/><Relationship Id="rId7" Type="http://schemas.openxmlformats.org/officeDocument/2006/relationships/image" Target="../media/image4.png"/><Relationship Id="rId8" Type="http://schemas.openxmlformats.org/officeDocument/2006/relationships/image" Target="../media/image9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6.png"/><Relationship Id="rId4" Type="http://schemas.openxmlformats.org/officeDocument/2006/relationships/image" Target="../media/image92.png"/><Relationship Id="rId5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3.png"/><Relationship Id="rId4" Type="http://schemas.openxmlformats.org/officeDocument/2006/relationships/image" Target="../media/image2.png"/><Relationship Id="rId9" Type="http://schemas.openxmlformats.org/officeDocument/2006/relationships/image" Target="../media/image51.pn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88.png"/><Relationship Id="rId8" Type="http://schemas.openxmlformats.org/officeDocument/2006/relationships/image" Target="../media/image9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5.png"/><Relationship Id="rId4" Type="http://schemas.openxmlformats.org/officeDocument/2006/relationships/image" Target="../media/image5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0.png"/><Relationship Id="rId4" Type="http://schemas.openxmlformats.org/officeDocument/2006/relationships/image" Target="../media/image1.png"/><Relationship Id="rId9" Type="http://schemas.openxmlformats.org/officeDocument/2006/relationships/image" Target="../media/image89.png"/><Relationship Id="rId5" Type="http://schemas.openxmlformats.org/officeDocument/2006/relationships/image" Target="../media/image64.png"/><Relationship Id="rId6" Type="http://schemas.openxmlformats.org/officeDocument/2006/relationships/image" Target="../media/image31.png"/><Relationship Id="rId7" Type="http://schemas.openxmlformats.org/officeDocument/2006/relationships/image" Target="../media/image93.png"/><Relationship Id="rId8" Type="http://schemas.openxmlformats.org/officeDocument/2006/relationships/image" Target="../media/image3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58.png"/><Relationship Id="rId5" Type="http://schemas.openxmlformats.org/officeDocument/2006/relationships/image" Target="../media/image30.png"/><Relationship Id="rId6" Type="http://schemas.openxmlformats.org/officeDocument/2006/relationships/image" Target="../media/image4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3.png"/><Relationship Id="rId4" Type="http://schemas.openxmlformats.org/officeDocument/2006/relationships/image" Target="../media/image28.png"/><Relationship Id="rId5" Type="http://schemas.openxmlformats.org/officeDocument/2006/relationships/image" Target="../media/image9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F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-1828800" y="-1828800"/>
            <a:ext cx="6400800" cy="6400800"/>
          </a:xfrm>
          <a:prstGeom prst="ellipse">
            <a:avLst/>
          </a:prstGeom>
          <a:solidFill>
            <a:srgbClr val="065A82">
              <a:alpha val="40000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/>
          <p:nvPr/>
        </p:nvSpPr>
        <p:spPr>
          <a:xfrm>
            <a:off x="7772400" y="4114800"/>
            <a:ext cx="5486400" cy="5486400"/>
          </a:xfrm>
          <a:prstGeom prst="ellipse">
            <a:avLst/>
          </a:prstGeom>
          <a:solidFill>
            <a:srgbClr val="1C7293">
              <a:alpha val="30196"/>
            </a:srgbClr>
          </a:solidFill>
          <a:ln cap="flat" cmpd="sng" w="12700">
            <a:solidFill>
              <a:srgbClr val="1C729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4"/>
          <p:cNvSpPr/>
          <p:nvPr/>
        </p:nvSpPr>
        <p:spPr>
          <a:xfrm>
            <a:off x="640080" y="640080"/>
            <a:ext cx="3108960" cy="411480"/>
          </a:xfrm>
          <a:prstGeom prst="roundRect">
            <a:avLst>
              <a:gd fmla="val 44444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640080" y="64008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B1E3F"/>
                </a:solidFill>
                <a:latin typeface="Calibri"/>
                <a:ea typeface="Calibri"/>
                <a:cs typeface="Calibri"/>
                <a:sym typeface="Calibri"/>
              </a:rPr>
              <a:t>CMPE-282 ·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>
            <a:off x="640080" y="146304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b="1" i="0" lang="en-US" sz="5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Enterprise Knowledge Portal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640080" y="27432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Cloud-Native · Serverless · AI-Powered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640080" y="3383280"/>
            <a:ext cx="731520" cy="457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Team — Serverless Squad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640080" y="41148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Aditya Govind Shahari 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640080" y="44805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Mohsen Minai 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640080" y="484632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Nihar Dharmeshkumar Patel 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40080" y="52120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Tamizh Selvan Manivannan   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686800" y="411480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" name="Google Shape;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42519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9646920" y="411480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84080" y="42519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/>
          <p:nvPr/>
        </p:nvSpPr>
        <p:spPr>
          <a:xfrm>
            <a:off x="10607040" y="411480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44200" y="425196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4"/>
          <p:cNvSpPr/>
          <p:nvPr/>
        </p:nvSpPr>
        <p:spPr>
          <a:xfrm>
            <a:off x="8686800" y="512064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3960" y="52578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/>
          <p:nvPr/>
        </p:nvSpPr>
        <p:spPr>
          <a:xfrm>
            <a:off x="9646920" y="512064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" name="Google Shape;38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84080" y="52578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4"/>
          <p:cNvSpPr/>
          <p:nvPr/>
        </p:nvSpPr>
        <p:spPr>
          <a:xfrm>
            <a:off x="10607040" y="5120640"/>
            <a:ext cx="868680" cy="86868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744200" y="52578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4"/>
          <p:cNvSpPr/>
          <p:nvPr/>
        </p:nvSpPr>
        <p:spPr>
          <a:xfrm>
            <a:off x="640080" y="621792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Cloud Run · Cloud SQL · Memorystore · GCS · Artifact Registry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2 · CMPE-282 DELIVERABLES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Course Requirements — All Met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1417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548640" y="1417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777240" y="1508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2" name="Google Shape;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5"/>
          <p:cNvSpPr/>
          <p:nvPr/>
        </p:nvSpPr>
        <p:spPr>
          <a:xfrm>
            <a:off x="1463040" y="1581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Okta Cloud SSO + AD federation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1463040" y="1984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Identity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6263640" y="1417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63640" y="1417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492240" y="1508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8" name="Google Shape;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120" y="1783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5"/>
          <p:cNvSpPr/>
          <p:nvPr/>
        </p:nvSpPr>
        <p:spPr>
          <a:xfrm>
            <a:off x="7178040" y="1581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database / datastore backend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178040" y="1984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2560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548640" y="2560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77240" y="2651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5"/>
          <p:cNvSpPr/>
          <p:nvPr/>
        </p:nvSpPr>
        <p:spPr>
          <a:xfrm>
            <a:off x="1463040" y="2724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web portal w/ SSO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463040" y="3127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6263640" y="2560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6263640" y="2560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6492240" y="2651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0" name="Google Shape;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120" y="2926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5"/>
          <p:cNvSpPr/>
          <p:nvPr/>
        </p:nvSpPr>
        <p:spPr>
          <a:xfrm>
            <a:off x="7178040" y="2724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GitHub integrated into SSO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7178040" y="3127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Identity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48640" y="3703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548640" y="3703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777240" y="3794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4069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5"/>
          <p:cNvSpPr/>
          <p:nvPr/>
        </p:nvSpPr>
        <p:spPr>
          <a:xfrm>
            <a:off x="1463040" y="3867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Jenkins · SSO + GitHub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463040" y="4270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CI/CD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263640" y="3703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6263640" y="3703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5"/>
          <p:cNvSpPr/>
          <p:nvPr/>
        </p:nvSpPr>
        <p:spPr>
          <a:xfrm>
            <a:off x="6492240" y="3794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120" y="4069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5"/>
          <p:cNvSpPr/>
          <p:nvPr/>
        </p:nvSpPr>
        <p:spPr>
          <a:xfrm>
            <a:off x="7178040" y="3867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Continuous Deployment to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7178040" y="4270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CI/CD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548640" y="4846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548640" y="4846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5"/>
          <p:cNvSpPr/>
          <p:nvPr/>
        </p:nvSpPr>
        <p:spPr>
          <a:xfrm>
            <a:off x="777240" y="4937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8" name="Google Shape;8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2120" y="5212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/>
          <p:nvPr/>
        </p:nvSpPr>
        <p:spPr>
          <a:xfrm>
            <a:off x="1463040" y="5010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Layered security · doc repo · AI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1463040" y="5413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</a:t>
            </a: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6263640" y="4846320"/>
            <a:ext cx="5486400" cy="10058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6263640" y="4846320"/>
            <a:ext cx="91440" cy="100584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"/>
          <p:cNvSpPr/>
          <p:nvPr/>
        </p:nvSpPr>
        <p:spPr>
          <a:xfrm>
            <a:off x="6492240" y="4937760"/>
            <a:ext cx="6400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47120" y="52120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5"/>
          <p:cNvSpPr/>
          <p:nvPr/>
        </p:nvSpPr>
        <p:spPr>
          <a:xfrm>
            <a:off x="7178040" y="5010912"/>
            <a:ext cx="3840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Modern serverless approach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7178040" y="5413248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Category: </a:t>
            </a:r>
            <a:r>
              <a:rPr i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Cloud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5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3 · WHY THIS PROJECT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Problem &amp; Goals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548640" y="1463040"/>
            <a:ext cx="5486400" cy="493776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548640" y="1463040"/>
            <a:ext cx="91440" cy="493776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1371600" y="1691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The Problem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868680" y="2331720"/>
            <a:ext cx="493776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Company holds an enterprise database on-prem and wants to: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Migrate workloads to the cloud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Expose data through an SSO-protected portal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Add document intelligence + AI querying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a fully serverless, auto-scaling stack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Char char="•"/>
            </a:pPr>
            <a:r>
              <a:rPr b="0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Ship via end-to-end CI/CD with SSO-secured Jenkins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309360" y="1463040"/>
            <a:ext cx="5486400" cy="493776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3" name="Google Shape;1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6"/>
          <p:cNvSpPr/>
          <p:nvPr/>
        </p:nvSpPr>
        <p:spPr>
          <a:xfrm>
            <a:off x="7132320" y="169164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Our Goals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6537960" y="2331720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"/>
          <p:cNvSpPr/>
          <p:nvPr/>
        </p:nvSpPr>
        <p:spPr>
          <a:xfrm>
            <a:off x="6537960" y="23317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7132320" y="233172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Cloud-Native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7132320" y="269748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Cloud Run for every service — no VMs to babysit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6537960" y="3291840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"/>
          <p:cNvSpPr/>
          <p:nvPr/>
        </p:nvSpPr>
        <p:spPr>
          <a:xfrm>
            <a:off x="6537960" y="32918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7132320" y="329184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AI-First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7132320" y="365760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NL→SQL + grounded document Q&amp;A on uploaded files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6537960" y="4251960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6537960" y="4251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7132320" y="425196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Layered 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7132320" y="461772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Okta SSO, JWT, IAM, private VPC, Secret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6537960" y="5212080"/>
            <a:ext cx="457200" cy="45720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"/>
          <p:cNvSpPr/>
          <p:nvPr/>
        </p:nvSpPr>
        <p:spPr>
          <a:xfrm>
            <a:off x="6537960" y="52120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E3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B1E3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132320" y="5212080"/>
            <a:ext cx="4206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Hands-off CI/CD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7132320" y="5577840"/>
            <a:ext cx="4206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GitHub → Jenkins → Cloud Build → Cloud Run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4 · DIRECT MAPPING TO GCP SERVICES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Course Requirements → Cloud Implementation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7"/>
          <p:cNvGraphicFramePr/>
          <p:nvPr/>
        </p:nvGraphicFramePr>
        <p:xfrm>
          <a:off x="54864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{8B2ED637-CEF0-4ABB-A032-12BF3B3000BE}</a:tableStyleId>
              </a:tblPr>
              <a:tblGrid>
                <a:gridCol w="548650"/>
                <a:gridCol w="4114800"/>
                <a:gridCol w="640080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#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Course Requirement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We Implemented It on GCP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Okta Cloud SSO + AD federation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Okta IdP · OIDC + SAML · MFA · AD federation enabled at tenant level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2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database / datastore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SQL Postgres 15 (HA + PITR) · Memorystore Redis 7 · Cloud Storage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3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web portal w/ SSO login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React 18 + MUI on Cloud Run · every route guarded by Okta widget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4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integrated into SSO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GitHub org enrolled in Okta tenant — OIDC login + SCIM provisioning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5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Jenkins integrated to SSO + GitHub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Jenkins on GCE · Okta SAML login · GitHub webhook triggers builds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6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Continuous Deployment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Build → Artifact Registry → Cloud Run blue-green revisions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7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Layered security · doc repo · AI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Armor + IAM + Secret Manager + KMS · GCS file repo · NVIDIA NIM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100"/>
                        <a:buFont typeface="Georgia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1C7293"/>
                          </a:solidFill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8</a:t>
                      </a:r>
                      <a:endParaRPr sz="1100" u="none" cap="none" strike="noStrike">
                        <a:latin typeface="Georgia"/>
                        <a:ea typeface="Georgia"/>
                        <a:cs typeface="Georgia"/>
                        <a:sym typeface="Georgia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Modern serverless approach (top marks)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Cloud Run for every service · scale-to-zero · pay-per-request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7"/>
          <p:cNvSpPr/>
          <p:nvPr/>
        </p:nvSpPr>
        <p:spPr>
          <a:xfrm>
            <a:off x="548640" y="5989320"/>
            <a:ext cx="11064240" cy="502920"/>
          </a:xfrm>
          <a:prstGeom prst="roundRect">
            <a:avLst>
              <a:gd fmla="val 14545" name="adj"/>
            </a:avLst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60807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"/>
          <p:cNvSpPr/>
          <p:nvPr/>
        </p:nvSpPr>
        <p:spPr>
          <a:xfrm>
            <a:off x="1234440" y="598932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 course requirement → a managed GCP service. No on-prem hangover. No VMs to babysit.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5 · REACT 18 + MATERIAL UI PORTAL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Frontend &amp; UX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8640" y="1463040"/>
            <a:ext cx="3657600" cy="493776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8"/>
          <p:cNvSpPr/>
          <p:nvPr/>
        </p:nvSpPr>
        <p:spPr>
          <a:xfrm>
            <a:off x="1371600" y="16916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Tech Stack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468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8"/>
          <p:cNvSpPr/>
          <p:nvPr/>
        </p:nvSpPr>
        <p:spPr>
          <a:xfrm>
            <a:off x="1143000" y="24231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 18 + TypeScript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0" name="Google Shape;16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2971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1143000" y="29260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Material-UI (MUI) v5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4747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8"/>
          <p:cNvSpPr/>
          <p:nvPr/>
        </p:nvSpPr>
        <p:spPr>
          <a:xfrm>
            <a:off x="1143000" y="342900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Axios + React Router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39776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/>
          <p:nvPr/>
        </p:nvSpPr>
        <p:spPr>
          <a:xfrm>
            <a:off x="1143000" y="39319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react-dropzone uploads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448056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8"/>
          <p:cNvSpPr/>
          <p:nvPr/>
        </p:nvSpPr>
        <p:spPr>
          <a:xfrm>
            <a:off x="1143000" y="44348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SSE polling for AI jobs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8" name="Google Shape;1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49834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8"/>
          <p:cNvSpPr/>
          <p:nvPr/>
        </p:nvSpPr>
        <p:spPr>
          <a:xfrm>
            <a:off x="1143000" y="493776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Okta hosted login widget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0" name="Google Shape;17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7240" y="5486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>
            <a:off x="1143000" y="5440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Auto-deployed via Cloud Run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4480560" y="1463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Pages we built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4480560" y="196596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4480560" y="1965960"/>
            <a:ext cx="91440" cy="132588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754880" y="2240280"/>
            <a:ext cx="548640" cy="548640"/>
          </a:xfrm>
          <a:prstGeom prst="ellipse">
            <a:avLst/>
          </a:prstGeom>
          <a:solidFill>
            <a:srgbClr val="0F172A">
              <a:alpha val="14901"/>
            </a:srgbClr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6" name="Google Shape;1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4632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544068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Login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544068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Okta hosted widget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8138160" y="196596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8138160" y="1965960"/>
            <a:ext cx="91440" cy="13258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8412480" y="2240280"/>
            <a:ext cx="548640" cy="548640"/>
          </a:xfrm>
          <a:prstGeom prst="ellipse">
            <a:avLst/>
          </a:prstGeom>
          <a:solidFill>
            <a:srgbClr val="059669">
              <a:alpha val="14901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2" name="Google Shape;182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0" y="2331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8"/>
          <p:cNvSpPr/>
          <p:nvPr/>
        </p:nvSpPr>
        <p:spPr>
          <a:xfrm>
            <a:off x="9098280" y="224028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Dashboard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9098280" y="260604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cards + charts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480560" y="347472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4480560" y="3474720"/>
            <a:ext cx="91440" cy="13258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754880" y="3749040"/>
            <a:ext cx="548640" cy="548640"/>
          </a:xfrm>
          <a:prstGeom prst="ellipse">
            <a:avLst/>
          </a:prstGeom>
          <a:solidFill>
            <a:srgbClr val="1C7293">
              <a:alpha val="14901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6320" y="3840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5440680" y="3749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Browser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40680" y="4114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Paginated tables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8138160" y="347472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138160" y="3474720"/>
            <a:ext cx="91440" cy="132588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/>
          <p:nvPr/>
        </p:nvSpPr>
        <p:spPr>
          <a:xfrm>
            <a:off x="8412480" y="3749040"/>
            <a:ext cx="548640" cy="548640"/>
          </a:xfrm>
          <a:prstGeom prst="ellipse">
            <a:avLst/>
          </a:prstGeom>
          <a:solidFill>
            <a:srgbClr val="7C3AED">
              <a:alpha val="1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4" name="Google Shape;194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03920" y="38404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8"/>
          <p:cNvSpPr/>
          <p:nvPr/>
        </p:nvSpPr>
        <p:spPr>
          <a:xfrm>
            <a:off x="9098280" y="374904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Chat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9098280" y="41148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NL→SQL &amp; doc Q&amp;A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4480560" y="498348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4480560" y="4983480"/>
            <a:ext cx="91440" cy="1325880"/>
          </a:xfrm>
          <a:prstGeom prst="rect">
            <a:avLst/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4754880" y="5257800"/>
            <a:ext cx="548640" cy="548640"/>
          </a:xfrm>
          <a:prstGeom prst="ellipse">
            <a:avLst/>
          </a:prstGeom>
          <a:solidFill>
            <a:srgbClr val="0891B2">
              <a:alpha val="14901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0" name="Google Shape;200;p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846320" y="5349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8"/>
          <p:cNvSpPr/>
          <p:nvPr/>
        </p:nvSpPr>
        <p:spPr>
          <a:xfrm>
            <a:off x="5440680" y="5257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File Upload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40680" y="5623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Drag-drop + status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8138160" y="4983480"/>
            <a:ext cx="352044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8138160" y="4983480"/>
            <a:ext cx="91440" cy="13258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8412480" y="5257800"/>
            <a:ext cx="548640" cy="548640"/>
          </a:xfrm>
          <a:prstGeom prst="ellipse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06" name="Google Shape;20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03920" y="53492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8"/>
          <p:cNvSpPr/>
          <p:nvPr/>
        </p:nvSpPr>
        <p:spPr>
          <a:xfrm>
            <a:off x="9098280" y="5257800"/>
            <a:ext cx="2468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098280" y="562356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Reports + builder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8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6 · NVIDIA NIM (GPT-OSS-120B)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AI Integration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48640" y="1417320"/>
            <a:ext cx="11064240" cy="640080"/>
          </a:xfrm>
          <a:prstGeom prst="roundRect">
            <a:avLst>
              <a:gd fmla="val 11429" name="adj"/>
            </a:avLst>
          </a:prstGeom>
          <a:solidFill>
            <a:srgbClr val="76B900"/>
          </a:solidFill>
          <a:ln cap="flat" cmpd="sng" w="1270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5087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9"/>
          <p:cNvSpPr/>
          <p:nvPr/>
        </p:nvSpPr>
        <p:spPr>
          <a:xfrm>
            <a:off x="1325880" y="14173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Model: openai/gpt-oss-120b · hosted on NVIDIA NIM · OpenAI-compatible API · streaming SSE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48640" y="2240280"/>
            <a:ext cx="5486400" cy="4206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9"/>
          <p:cNvSpPr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548640" y="2240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NL → SQL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777240" y="288036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6" name="Google Shape;22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868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9"/>
          <p:cNvSpPr/>
          <p:nvPr/>
        </p:nvSpPr>
        <p:spPr>
          <a:xfrm>
            <a:off x="777240" y="3383280"/>
            <a:ext cx="502920" cy="45720"/>
          </a:xfrm>
          <a:prstGeom prst="ellipse">
            <a:avLst/>
          </a:prstGeom>
          <a:solidFill>
            <a:srgbClr val="065A82">
              <a:alpha val="30196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1463040" y="28803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1463040" y="313639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User: "top 5 reps in Q2 2025"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77240" y="365760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1" name="Google Shape;23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9"/>
          <p:cNvSpPr/>
          <p:nvPr/>
        </p:nvSpPr>
        <p:spPr>
          <a:xfrm>
            <a:off x="777240" y="4160520"/>
            <a:ext cx="502920" cy="45720"/>
          </a:xfrm>
          <a:prstGeom prst="ellipse">
            <a:avLst/>
          </a:prstGeom>
          <a:solidFill>
            <a:srgbClr val="065A82">
              <a:alpha val="30196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1463040" y="36576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1463040" y="391363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LLM generates SQL with schema-grounded prompt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777240" y="443484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6" name="Google Shape;23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8680" y="4526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9"/>
          <p:cNvSpPr/>
          <p:nvPr/>
        </p:nvSpPr>
        <p:spPr>
          <a:xfrm>
            <a:off x="777240" y="4937760"/>
            <a:ext cx="502920" cy="45720"/>
          </a:xfrm>
          <a:prstGeom prst="ellipse">
            <a:avLst/>
          </a:prstGeom>
          <a:solidFill>
            <a:srgbClr val="065A82">
              <a:alpha val="30196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1463040" y="4434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1463040" y="469087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ai-service validates (read-only, allow-listed tables)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77240" y="521208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1" name="Google Shape;241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8680" y="5303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9"/>
          <p:cNvSpPr/>
          <p:nvPr/>
        </p:nvSpPr>
        <p:spPr>
          <a:xfrm>
            <a:off x="777240" y="5715000"/>
            <a:ext cx="502920" cy="45720"/>
          </a:xfrm>
          <a:prstGeom prst="ellipse">
            <a:avLst/>
          </a:prstGeom>
          <a:solidFill>
            <a:srgbClr val="065A82">
              <a:alpha val="30196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9"/>
          <p:cNvSpPr/>
          <p:nvPr/>
        </p:nvSpPr>
        <p:spPr>
          <a:xfrm>
            <a:off x="1463040" y="52120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1463040" y="546811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Run on Cloud SQL · stream rows back via SSE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6309360" y="2240280"/>
            <a:ext cx="5486400" cy="42062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6309360" y="2240280"/>
            <a:ext cx="5486400" cy="457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"/>
          <p:cNvSpPr/>
          <p:nvPr/>
        </p:nvSpPr>
        <p:spPr>
          <a:xfrm>
            <a:off x="6309360" y="224028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Document Q&amp;A (RAG)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6537960" y="288036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9" name="Google Shape;24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29718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9"/>
          <p:cNvSpPr/>
          <p:nvPr/>
        </p:nvSpPr>
        <p:spPr>
          <a:xfrm>
            <a:off x="7223760" y="288036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7223760" y="313639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 PDF/DOCX/CSV · stored in GCS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6537960" y="365760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3" name="Google Shape;253;p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629400" y="374904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9"/>
          <p:cNvSpPr/>
          <p:nvPr/>
        </p:nvSpPr>
        <p:spPr>
          <a:xfrm>
            <a:off x="7223760" y="365760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7223760" y="391363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parser-service extracts ordered chunks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6537960" y="443484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7" name="Google Shape;257;p9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29400" y="452628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9"/>
          <p:cNvSpPr/>
          <p:nvPr/>
        </p:nvSpPr>
        <p:spPr>
          <a:xfrm>
            <a:off x="7223760" y="4434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7223760" y="469087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Chunks indexed in Postgres with metadata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537960" y="5212080"/>
            <a:ext cx="502920" cy="50292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1" name="Google Shape;261;p9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629400" y="53035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9"/>
          <p:cNvSpPr/>
          <p:nvPr/>
        </p:nvSpPr>
        <p:spPr>
          <a:xfrm>
            <a:off x="7223760" y="521208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Step 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7223760" y="5468112"/>
            <a:ext cx="42976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Top-k retrieval + grounded answer + citations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8 · SYSTEM TOPOLOGY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High-Level Architecture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48640" y="128016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User → Okta → Frontend → API Gateway → 7 Microservices → Managed Data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48640" y="1691640"/>
            <a:ext cx="155448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548640" y="1691640"/>
            <a:ext cx="1554480" cy="164592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7" name="Google Shape;2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947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0"/>
          <p:cNvSpPr/>
          <p:nvPr/>
        </p:nvSpPr>
        <p:spPr>
          <a:xfrm>
            <a:off x="1005840" y="1920240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2258568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Browser (HTTPS)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2468880" y="1691640"/>
            <a:ext cx="173736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007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0"/>
          <p:cNvSpPr/>
          <p:nvPr/>
        </p:nvSpPr>
        <p:spPr>
          <a:xfrm>
            <a:off x="2468880" y="1691640"/>
            <a:ext cx="1737360" cy="164592"/>
          </a:xfrm>
          <a:prstGeom prst="rect">
            <a:avLst/>
          </a:prstGeom>
          <a:solidFill>
            <a:srgbClr val="007DC1"/>
          </a:solidFill>
          <a:ln cap="flat" cmpd="sng" w="12700">
            <a:solidFill>
              <a:srgbClr val="007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60320" y="1947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0"/>
          <p:cNvSpPr/>
          <p:nvPr/>
        </p:nvSpPr>
        <p:spPr>
          <a:xfrm>
            <a:off x="2926080" y="1920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Okta IdP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2560320" y="22585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OIDC / SAML / MFA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4572000" y="1691640"/>
            <a:ext cx="173736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0"/>
          <p:cNvSpPr/>
          <p:nvPr/>
        </p:nvSpPr>
        <p:spPr>
          <a:xfrm>
            <a:off x="4572000" y="1691640"/>
            <a:ext cx="1737360" cy="164592"/>
          </a:xfrm>
          <a:prstGeom prst="rect">
            <a:avLst/>
          </a:prstGeom>
          <a:solidFill>
            <a:srgbClr val="61DAFB"/>
          </a:solidFill>
          <a:ln cap="flat" cmpd="sng" w="12700">
            <a:solidFill>
              <a:srgbClr val="61DA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7" name="Google Shape;287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947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/>
          <p:nvPr/>
        </p:nvSpPr>
        <p:spPr>
          <a:xfrm>
            <a:off x="5029200" y="1920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React 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63440" y="22585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675120" y="1691640"/>
            <a:ext cx="1737360" cy="868680"/>
          </a:xfrm>
          <a:prstGeom prst="roundRect">
            <a:avLst>
              <a:gd fmla="val 6316" name="adj"/>
            </a:avLst>
          </a:prstGeom>
          <a:solidFill>
            <a:srgbClr val="FFFFFF"/>
          </a:solidFill>
          <a:ln cap="flat" cmpd="sng" w="1905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675120" y="1691640"/>
            <a:ext cx="1737360" cy="164592"/>
          </a:xfrm>
          <a:prstGeom prst="rect">
            <a:avLst/>
          </a:prstGeom>
          <a:solidFill>
            <a:srgbClr val="00ADD8"/>
          </a:solidFill>
          <a:ln cap="flat" cmpd="sng" w="1270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0" y="194767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7132320" y="192024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766560" y="225856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Go / Gin · 8080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5" name="Google Shape;295;p10"/>
          <p:cNvCxnSpPr/>
          <p:nvPr/>
        </p:nvCxnSpPr>
        <p:spPr>
          <a:xfrm>
            <a:off x="2103120" y="2121408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6" name="Google Shape;296;p10"/>
          <p:cNvCxnSpPr/>
          <p:nvPr/>
        </p:nvCxnSpPr>
        <p:spPr>
          <a:xfrm>
            <a:off x="4206240" y="2121408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97" name="Google Shape;297;p10"/>
          <p:cNvCxnSpPr/>
          <p:nvPr/>
        </p:nvCxnSpPr>
        <p:spPr>
          <a:xfrm>
            <a:off x="6309360" y="2121408"/>
            <a:ext cx="36576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98" name="Google Shape;298;p10"/>
          <p:cNvSpPr/>
          <p:nvPr/>
        </p:nvSpPr>
        <p:spPr>
          <a:xfrm>
            <a:off x="54864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548640" y="3017520"/>
            <a:ext cx="1691640" cy="164592"/>
          </a:xfrm>
          <a:prstGeom prst="rect">
            <a:avLst/>
          </a:prstGeom>
          <a:solidFill>
            <a:srgbClr val="00ADD8"/>
          </a:solidFill>
          <a:ln cap="flat" cmpd="sng" w="1270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08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100584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Auth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64008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8081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242316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0"/>
          <p:cNvSpPr/>
          <p:nvPr/>
        </p:nvSpPr>
        <p:spPr>
          <a:xfrm>
            <a:off x="2423160" y="3017520"/>
            <a:ext cx="1691640" cy="164592"/>
          </a:xfrm>
          <a:prstGeom prst="rect">
            <a:avLst/>
          </a:prstGeom>
          <a:solidFill>
            <a:srgbClr val="00ADD8"/>
          </a:solidFill>
          <a:ln cap="flat" cmpd="sng" w="1270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5" name="Google Shape;305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1460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/>
          <p:nvPr/>
        </p:nvSpPr>
        <p:spPr>
          <a:xfrm>
            <a:off x="288036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Data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251460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8082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0"/>
          <p:cNvSpPr/>
          <p:nvPr/>
        </p:nvSpPr>
        <p:spPr>
          <a:xfrm>
            <a:off x="429768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0"/>
          <p:cNvSpPr/>
          <p:nvPr/>
        </p:nvSpPr>
        <p:spPr>
          <a:xfrm>
            <a:off x="4297680" y="3017520"/>
            <a:ext cx="1691640" cy="164592"/>
          </a:xfrm>
          <a:prstGeom prst="rect">
            <a:avLst/>
          </a:prstGeom>
          <a:solidFill>
            <a:srgbClr val="00ADD8"/>
          </a:solidFill>
          <a:ln cap="flat" cmpd="sng" w="1270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0" name="Google Shape;31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8912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0"/>
          <p:cNvSpPr/>
          <p:nvPr/>
        </p:nvSpPr>
        <p:spPr>
          <a:xfrm>
            <a:off x="475488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File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438912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8083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17220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172200" y="3017520"/>
            <a:ext cx="1691640" cy="164592"/>
          </a:xfrm>
          <a:prstGeom prst="rect">
            <a:avLst/>
          </a:prstGeom>
          <a:solidFill>
            <a:srgbClr val="76B900"/>
          </a:solidFill>
          <a:ln cap="flat" cmpd="sng" w="1270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5" name="Google Shape;315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6364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10"/>
          <p:cNvSpPr/>
          <p:nvPr/>
        </p:nvSpPr>
        <p:spPr>
          <a:xfrm>
            <a:off x="662940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26364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8084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804672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8046720" y="3017520"/>
            <a:ext cx="1691640" cy="164592"/>
          </a:xfrm>
          <a:prstGeom prst="rect">
            <a:avLst/>
          </a:prstGeom>
          <a:solidFill>
            <a:srgbClr val="00ADD8"/>
          </a:solidFill>
          <a:ln cap="flat" cmpd="sng" w="12700">
            <a:solidFill>
              <a:srgbClr val="00AD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0" name="Google Shape;32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3816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0"/>
          <p:cNvSpPr/>
          <p:nvPr/>
        </p:nvSpPr>
        <p:spPr>
          <a:xfrm>
            <a:off x="850392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Analytics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813816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8085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9921240" y="3017520"/>
            <a:ext cx="169164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/>
          <p:nvPr/>
        </p:nvSpPr>
        <p:spPr>
          <a:xfrm>
            <a:off x="9921240" y="3017520"/>
            <a:ext cx="1691640" cy="164592"/>
          </a:xfrm>
          <a:prstGeom prst="rect">
            <a:avLst/>
          </a:prstGeom>
          <a:solidFill>
            <a:srgbClr val="3776AB"/>
          </a:solidFill>
          <a:ln cap="flat" cmpd="sng" w="1270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5" name="Google Shape;325;p1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012680" y="3273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/>
          <p:nvPr/>
        </p:nvSpPr>
        <p:spPr>
          <a:xfrm>
            <a:off x="10378440" y="32461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Parser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10012680" y="3584448"/>
            <a:ext cx="1508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Port 8090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8" name="Google Shape;328;p10"/>
          <p:cNvCxnSpPr/>
          <p:nvPr/>
        </p:nvCxnSpPr>
        <p:spPr>
          <a:xfrm>
            <a:off x="7543800" y="25603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29" name="Google Shape;329;p10"/>
          <p:cNvCxnSpPr/>
          <p:nvPr/>
        </p:nvCxnSpPr>
        <p:spPr>
          <a:xfrm>
            <a:off x="1371600" y="2788920"/>
            <a:ext cx="10424160" cy="0"/>
          </a:xfrm>
          <a:prstGeom prst="straightConnector1">
            <a:avLst/>
          </a:prstGeom>
          <a:noFill/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0"/>
          <p:cNvCxnSpPr/>
          <p:nvPr/>
        </p:nvCxnSpPr>
        <p:spPr>
          <a:xfrm>
            <a:off x="137160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324612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2" name="Google Shape;332;p10"/>
          <p:cNvCxnSpPr/>
          <p:nvPr/>
        </p:nvCxnSpPr>
        <p:spPr>
          <a:xfrm>
            <a:off x="512064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3" name="Google Shape;333;p10"/>
          <p:cNvCxnSpPr/>
          <p:nvPr/>
        </p:nvCxnSpPr>
        <p:spPr>
          <a:xfrm>
            <a:off x="699516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4" name="Google Shape;334;p10"/>
          <p:cNvCxnSpPr/>
          <p:nvPr/>
        </p:nvCxnSpPr>
        <p:spPr>
          <a:xfrm>
            <a:off x="886968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35" name="Google Shape;335;p10"/>
          <p:cNvCxnSpPr/>
          <p:nvPr/>
        </p:nvCxnSpPr>
        <p:spPr>
          <a:xfrm>
            <a:off x="10744200" y="2788920"/>
            <a:ext cx="0" cy="22860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6" name="Google Shape;336;p10"/>
          <p:cNvSpPr/>
          <p:nvPr/>
        </p:nvSpPr>
        <p:spPr>
          <a:xfrm>
            <a:off x="548640" y="4160520"/>
            <a:ext cx="21945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548640" y="4160520"/>
            <a:ext cx="2194560" cy="164592"/>
          </a:xfrm>
          <a:prstGeom prst="rect">
            <a:avLst/>
          </a:prstGeom>
          <a:solidFill>
            <a:srgbClr val="4169E1"/>
          </a:solidFill>
          <a:ln cap="flat" cmpd="sng" w="1270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8" name="Google Shape;338;p1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0080" y="4416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0"/>
          <p:cNvSpPr/>
          <p:nvPr/>
        </p:nvSpPr>
        <p:spPr>
          <a:xfrm>
            <a:off x="1005840" y="4389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40080" y="47274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PostgreSQL 15 (HA)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2926080" y="4160520"/>
            <a:ext cx="21945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DC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2926080" y="4160520"/>
            <a:ext cx="2194560" cy="164592"/>
          </a:xfrm>
          <a:prstGeom prst="rect">
            <a:avLst/>
          </a:prstGeom>
          <a:solidFill>
            <a:srgbClr val="DC382D"/>
          </a:solidFill>
          <a:ln cap="flat" cmpd="sng" w="12700">
            <a:solidFill>
              <a:srgbClr val="DC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3" name="Google Shape;34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017520" y="4416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0"/>
          <p:cNvSpPr/>
          <p:nvPr/>
        </p:nvSpPr>
        <p:spPr>
          <a:xfrm>
            <a:off x="3383280" y="4389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Memorystore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3017520" y="47274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Redis 7 (TLS)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303520" y="4160520"/>
            <a:ext cx="21945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5303520" y="4160520"/>
            <a:ext cx="2194560" cy="16459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8" name="Google Shape;34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394960" y="4416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0"/>
          <p:cNvSpPr/>
          <p:nvPr/>
        </p:nvSpPr>
        <p:spPr>
          <a:xfrm>
            <a:off x="5760720" y="4389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394960" y="47274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Files / artifacts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7680960" y="4160520"/>
            <a:ext cx="21945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231F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7680960" y="4160520"/>
            <a:ext cx="2194560" cy="164592"/>
          </a:xfrm>
          <a:prstGeom prst="rect">
            <a:avLst/>
          </a:prstGeom>
          <a:solidFill>
            <a:srgbClr val="231F20"/>
          </a:solidFill>
          <a:ln cap="flat" cmpd="sng" w="12700">
            <a:solidFill>
              <a:srgbClr val="231F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3" name="Google Shape;353;p1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772400" y="4416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10"/>
          <p:cNvSpPr/>
          <p:nvPr/>
        </p:nvSpPr>
        <p:spPr>
          <a:xfrm>
            <a:off x="8138160" y="438912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Kafka / Pub-Sub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7772400" y="472744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Async events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10058400" y="4160520"/>
            <a:ext cx="1737360" cy="777240"/>
          </a:xfrm>
          <a:prstGeom prst="roundRect">
            <a:avLst>
              <a:gd fmla="val 7059" name="adj"/>
            </a:avLst>
          </a:prstGeom>
          <a:solidFill>
            <a:srgbClr val="FFFFFF"/>
          </a:solidFill>
          <a:ln cap="flat" cmpd="sng" w="1905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10058400" y="4160520"/>
            <a:ext cx="1737360" cy="164592"/>
          </a:xfrm>
          <a:prstGeom prst="rect">
            <a:avLst/>
          </a:prstGeom>
          <a:solidFill>
            <a:srgbClr val="76B900"/>
          </a:solidFill>
          <a:ln cap="flat" cmpd="sng" w="12700">
            <a:solidFill>
              <a:srgbClr val="76B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8" name="Google Shape;358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49840" y="441655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10"/>
          <p:cNvSpPr/>
          <p:nvPr/>
        </p:nvSpPr>
        <p:spPr>
          <a:xfrm>
            <a:off x="10515600" y="43891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NVIDIA NIM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0149840" y="4727448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GPT-OSS-120B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1" name="Google Shape;361;p10"/>
          <p:cNvCxnSpPr/>
          <p:nvPr/>
        </p:nvCxnSpPr>
        <p:spPr>
          <a:xfrm>
            <a:off x="1371600" y="3794760"/>
            <a:ext cx="274320" cy="36576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2" name="Google Shape;362;p10"/>
          <p:cNvCxnSpPr/>
          <p:nvPr/>
        </p:nvCxnSpPr>
        <p:spPr>
          <a:xfrm>
            <a:off x="3246120" y="3794760"/>
            <a:ext cx="777240" cy="36576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3" name="Google Shape;363;p10"/>
          <p:cNvCxnSpPr/>
          <p:nvPr/>
        </p:nvCxnSpPr>
        <p:spPr>
          <a:xfrm>
            <a:off x="5120640" y="3794760"/>
            <a:ext cx="1280160" cy="36576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4" name="Google Shape;364;p10"/>
          <p:cNvCxnSpPr/>
          <p:nvPr/>
        </p:nvCxnSpPr>
        <p:spPr>
          <a:xfrm>
            <a:off x="6995160" y="3794760"/>
            <a:ext cx="1783080" cy="36576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5" name="Google Shape;365;p10"/>
          <p:cNvCxnSpPr/>
          <p:nvPr/>
        </p:nvCxnSpPr>
        <p:spPr>
          <a:xfrm>
            <a:off x="8869680" y="3794760"/>
            <a:ext cx="2057400" cy="36576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6" name="Google Shape;366;p10"/>
          <p:cNvSpPr/>
          <p:nvPr/>
        </p:nvSpPr>
        <p:spPr>
          <a:xfrm>
            <a:off x="548640" y="5212080"/>
            <a:ext cx="11247120" cy="1280160"/>
          </a:xfrm>
          <a:prstGeom prst="roundRect">
            <a:avLst>
              <a:gd fmla="val 5714" name="adj"/>
            </a:avLst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7" name="Google Shape;367;p1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7240" y="5440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0"/>
          <p:cNvSpPr/>
          <p:nvPr/>
        </p:nvSpPr>
        <p:spPr>
          <a:xfrm>
            <a:off x="1417320" y="5349240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Cross-cutting: Private VPC · IAM Service Accounts · Secret Manager · Cloud Logging · Cloud Monitoring · Cloud Armor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1417320" y="571500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Identity layer wraps every component. Ingress is HTTPS-only via GCP Load Balancer with rate-limit + geo-block.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0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9 · MANAGED SERVICES MAP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GCP Cloud-Native Stack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548640" y="141732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1"/>
          <p:cNvSpPr/>
          <p:nvPr/>
        </p:nvSpPr>
        <p:spPr>
          <a:xfrm>
            <a:off x="548640" y="1417320"/>
            <a:ext cx="3657600" cy="7315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731520" y="1691640"/>
            <a:ext cx="640080" cy="640080"/>
          </a:xfrm>
          <a:prstGeom prst="ellipse">
            <a:avLst/>
          </a:prstGeom>
          <a:solidFill>
            <a:srgbClr val="4285F4">
              <a:alpha val="14901"/>
            </a:srgbClr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" y="180136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1"/>
          <p:cNvSpPr/>
          <p:nvPr/>
        </p:nvSpPr>
        <p:spPr>
          <a:xfrm>
            <a:off x="1508760" y="1691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1"/>
          <p:cNvSpPr/>
          <p:nvPr/>
        </p:nvSpPr>
        <p:spPr>
          <a:xfrm>
            <a:off x="1508760" y="205740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app containers — auto-scale to 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/>
          <p:nvPr/>
        </p:nvSpPr>
        <p:spPr>
          <a:xfrm>
            <a:off x="4434840" y="141732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4434840" y="1417320"/>
            <a:ext cx="3657600" cy="73152"/>
          </a:xfrm>
          <a:prstGeom prst="rect">
            <a:avLst/>
          </a:prstGeom>
          <a:solidFill>
            <a:srgbClr val="4169E1"/>
          </a:solidFill>
          <a:ln cap="flat" cmpd="sng" w="1270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4617720" y="1691640"/>
            <a:ext cx="640080" cy="640080"/>
          </a:xfrm>
          <a:prstGeom prst="ellipse">
            <a:avLst/>
          </a:prstGeom>
          <a:solidFill>
            <a:srgbClr val="4169E1">
              <a:alpha val="14901"/>
            </a:srgbClr>
          </a:solidFill>
          <a:ln cap="flat" cmpd="sng" w="1270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9" name="Google Shape;38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27448" y="180136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5394960" y="1691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SQL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5394960" y="205740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PostgreSQL 15 · HA · PITR · private VPC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8321040" y="141732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8321040" y="1417320"/>
            <a:ext cx="3657600" cy="73152"/>
          </a:xfrm>
          <a:prstGeom prst="rect">
            <a:avLst/>
          </a:prstGeom>
          <a:solidFill>
            <a:srgbClr val="DC382D"/>
          </a:solidFill>
          <a:ln cap="flat" cmpd="sng" w="12700">
            <a:solidFill>
              <a:srgbClr val="DC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1"/>
          <p:cNvSpPr/>
          <p:nvPr/>
        </p:nvSpPr>
        <p:spPr>
          <a:xfrm>
            <a:off x="8503920" y="1691640"/>
            <a:ext cx="640080" cy="640080"/>
          </a:xfrm>
          <a:prstGeom prst="ellipse">
            <a:avLst/>
          </a:prstGeom>
          <a:solidFill>
            <a:srgbClr val="DC382D">
              <a:alpha val="14901"/>
            </a:srgbClr>
          </a:solidFill>
          <a:ln cap="flat" cmpd="sng" w="12700">
            <a:solidFill>
              <a:srgbClr val="DC3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5" name="Google Shape;39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13648" y="180136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9281160" y="16916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Memorystore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9281160" y="205740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Redis 7 · TLS · auth · jobs/sessions cache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8640" y="310896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548640" y="3108960"/>
            <a:ext cx="3657600" cy="7315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1"/>
          <p:cNvSpPr/>
          <p:nvPr/>
        </p:nvSpPr>
        <p:spPr>
          <a:xfrm>
            <a:off x="731520" y="3383280"/>
            <a:ext cx="640080" cy="640080"/>
          </a:xfrm>
          <a:prstGeom prst="ellipse">
            <a:avLst/>
          </a:prstGeom>
          <a:solidFill>
            <a:srgbClr val="4285F4">
              <a:alpha val="14901"/>
            </a:srgbClr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1" name="Google Shape;40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1248" y="349300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11"/>
          <p:cNvSpPr/>
          <p:nvPr/>
        </p:nvSpPr>
        <p:spPr>
          <a:xfrm>
            <a:off x="1508760" y="338328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Storage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1508760" y="374904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Uploads · static assets · lifecycle policies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434840" y="310896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1"/>
          <p:cNvSpPr/>
          <p:nvPr/>
        </p:nvSpPr>
        <p:spPr>
          <a:xfrm>
            <a:off x="4434840" y="3108960"/>
            <a:ext cx="36576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1"/>
          <p:cNvSpPr/>
          <p:nvPr/>
        </p:nvSpPr>
        <p:spPr>
          <a:xfrm>
            <a:off x="4617720" y="3383280"/>
            <a:ext cx="640080" cy="640080"/>
          </a:xfrm>
          <a:prstGeom prst="ellipse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7" name="Google Shape;407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27448" y="349300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1"/>
          <p:cNvSpPr/>
          <p:nvPr/>
        </p:nvSpPr>
        <p:spPr>
          <a:xfrm>
            <a:off x="5394960" y="338328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Artifact Registry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5394960" y="374904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Docker images · vuln scanning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8321040" y="310896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8321040" y="3108960"/>
            <a:ext cx="3657600" cy="73152"/>
          </a:xfrm>
          <a:prstGeom prst="rect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8503920" y="3383280"/>
            <a:ext cx="640080" cy="640080"/>
          </a:xfrm>
          <a:prstGeom prst="ellipse">
            <a:avLst/>
          </a:prstGeom>
          <a:solidFill>
            <a:srgbClr val="4285F4">
              <a:alpha val="14901"/>
            </a:srgbClr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3" name="Google Shape;413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13648" y="349300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11"/>
          <p:cNvSpPr/>
          <p:nvPr/>
        </p:nvSpPr>
        <p:spPr>
          <a:xfrm>
            <a:off x="9281160" y="338328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Build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9281160" y="374904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Build/push/deploy from Jenkins triggers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48640" y="480060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1"/>
          <p:cNvSpPr/>
          <p:nvPr/>
        </p:nvSpPr>
        <p:spPr>
          <a:xfrm>
            <a:off x="548640" y="4800600"/>
            <a:ext cx="3657600" cy="73152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1"/>
          <p:cNvSpPr/>
          <p:nvPr/>
        </p:nvSpPr>
        <p:spPr>
          <a:xfrm>
            <a:off x="731520" y="5074920"/>
            <a:ext cx="640080" cy="640080"/>
          </a:xfrm>
          <a:prstGeom prst="ellipse">
            <a:avLst/>
          </a:prstGeom>
          <a:solidFill>
            <a:srgbClr val="B45309">
              <a:alpha val="14901"/>
            </a:srgbClr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9" name="Google Shape;419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248" y="51846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11"/>
          <p:cNvSpPr/>
          <p:nvPr/>
        </p:nvSpPr>
        <p:spPr>
          <a:xfrm>
            <a:off x="1508760" y="50749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Secret Manager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1508760" y="544068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DB pwd · JWT secret · NVIDIA API key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434840" y="480060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1"/>
          <p:cNvSpPr/>
          <p:nvPr/>
        </p:nvSpPr>
        <p:spPr>
          <a:xfrm>
            <a:off x="4434840" y="4800600"/>
            <a:ext cx="3657600" cy="73152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"/>
          <p:cNvSpPr/>
          <p:nvPr/>
        </p:nvSpPr>
        <p:spPr>
          <a:xfrm>
            <a:off x="4617720" y="5074920"/>
            <a:ext cx="640080" cy="640080"/>
          </a:xfrm>
          <a:prstGeom prst="ellipse">
            <a:avLst/>
          </a:prstGeom>
          <a:solidFill>
            <a:srgbClr val="059669">
              <a:alpha val="14901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25" name="Google Shape;425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727448" y="51846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11"/>
          <p:cNvSpPr/>
          <p:nvPr/>
        </p:nvSpPr>
        <p:spPr>
          <a:xfrm>
            <a:off x="5394960" y="50749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Logging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5394960" y="544068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Structured logs · alerts · Cloud Monitoring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1"/>
          <p:cNvSpPr/>
          <p:nvPr/>
        </p:nvSpPr>
        <p:spPr>
          <a:xfrm>
            <a:off x="8321040" y="4800600"/>
            <a:ext cx="3657600" cy="15544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1"/>
          <p:cNvSpPr/>
          <p:nvPr/>
        </p:nvSpPr>
        <p:spPr>
          <a:xfrm>
            <a:off x="8321040" y="4800600"/>
            <a:ext cx="3657600" cy="73152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8503920" y="5074920"/>
            <a:ext cx="640080" cy="640080"/>
          </a:xfrm>
          <a:prstGeom prst="ellipse">
            <a:avLst/>
          </a:prstGeom>
          <a:solidFill>
            <a:srgbClr val="DC2626">
              <a:alpha val="14901"/>
            </a:srgbClr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1" name="Google Shape;431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613648" y="5184648"/>
            <a:ext cx="420624" cy="420624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1"/>
          <p:cNvSpPr/>
          <p:nvPr/>
        </p:nvSpPr>
        <p:spPr>
          <a:xfrm>
            <a:off x="9281160" y="50749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Armor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9281160" y="5440680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WAF · rate-limit · geo-block at the edge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2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10 · CLOUD RUN FOR EVERY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Why Serverless? — Top-Marks Approach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2"/>
          <p:cNvSpPr/>
          <p:nvPr/>
        </p:nvSpPr>
        <p:spPr>
          <a:xfrm>
            <a:off x="548640" y="1417320"/>
            <a:ext cx="365760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2"/>
          <p:cNvSpPr/>
          <p:nvPr/>
        </p:nvSpPr>
        <p:spPr>
          <a:xfrm>
            <a:off x="548640" y="1417320"/>
            <a:ext cx="3657600" cy="64008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46" name="Google Shape;44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819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12"/>
          <p:cNvSpPr/>
          <p:nvPr/>
        </p:nvSpPr>
        <p:spPr>
          <a:xfrm>
            <a:off x="1097280" y="14173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COST WIN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731520" y="219456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Scale-to-zero idle = $0 compute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Pay-per-request pricing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Dev env: ~$50/month with nightly tear-down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Prod estimate: ~$300/month at moderate load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4434840" y="1417320"/>
            <a:ext cx="365760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2"/>
          <p:cNvSpPr/>
          <p:nvPr/>
        </p:nvSpPr>
        <p:spPr>
          <a:xfrm>
            <a:off x="4434840" y="1417320"/>
            <a:ext cx="3657600" cy="64008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1" name="Google Shape;45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17720" y="15819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12"/>
          <p:cNvSpPr/>
          <p:nvPr/>
        </p:nvSpPr>
        <p:spPr>
          <a:xfrm>
            <a:off x="4983480" y="14173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OPS WIN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2"/>
          <p:cNvSpPr/>
          <p:nvPr/>
        </p:nvSpPr>
        <p:spPr>
          <a:xfrm>
            <a:off x="4617720" y="219456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VMs to patch · no node pools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Auto-HA across zones, no cluster setup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Cloud-managed TLS · cert auto-rotation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Logs/metrics built in — no Prometheus stack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2"/>
          <p:cNvSpPr/>
          <p:nvPr/>
        </p:nvSpPr>
        <p:spPr>
          <a:xfrm>
            <a:off x="8321040" y="1417320"/>
            <a:ext cx="3657600" cy="36576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2"/>
          <p:cNvSpPr/>
          <p:nvPr/>
        </p:nvSpPr>
        <p:spPr>
          <a:xfrm>
            <a:off x="8321040" y="1417320"/>
            <a:ext cx="3657600" cy="640080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6" name="Google Shape;456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920" y="1581912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57" name="Google Shape;457;p12"/>
          <p:cNvSpPr/>
          <p:nvPr/>
        </p:nvSpPr>
        <p:spPr>
          <a:xfrm>
            <a:off x="8869680" y="141732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DEV WIN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2"/>
          <p:cNvSpPr/>
          <p:nvPr/>
        </p:nvSpPr>
        <p:spPr>
          <a:xfrm>
            <a:off x="8503920" y="2194560"/>
            <a:ext cx="3291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Deploy in ~90 seconds via Cloud Build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Blue-green revisions free out of the box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Instant rollback to any prior revision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One Dockerfile = production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2"/>
          <p:cNvSpPr/>
          <p:nvPr/>
        </p:nvSpPr>
        <p:spPr>
          <a:xfrm>
            <a:off x="548640" y="5349240"/>
            <a:ext cx="2697480" cy="114300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2"/>
          <p:cNvSpPr/>
          <p:nvPr/>
        </p:nvSpPr>
        <p:spPr>
          <a:xfrm>
            <a:off x="548640" y="5394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2"/>
          <p:cNvSpPr/>
          <p:nvPr/>
        </p:nvSpPr>
        <p:spPr>
          <a:xfrm>
            <a:off x="548640" y="6035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Instances when idle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2"/>
          <p:cNvSpPr/>
          <p:nvPr/>
        </p:nvSpPr>
        <p:spPr>
          <a:xfrm>
            <a:off x="3383280" y="5349240"/>
            <a:ext cx="2697480" cy="114300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2"/>
          <p:cNvSpPr/>
          <p:nvPr/>
        </p:nvSpPr>
        <p:spPr>
          <a:xfrm>
            <a:off x="3383280" y="5394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90s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2"/>
          <p:cNvSpPr/>
          <p:nvPr/>
        </p:nvSpPr>
        <p:spPr>
          <a:xfrm>
            <a:off x="3383280" y="6035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Cold deploy →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2"/>
          <p:cNvSpPr/>
          <p:nvPr/>
        </p:nvSpPr>
        <p:spPr>
          <a:xfrm>
            <a:off x="6217920" y="5349240"/>
            <a:ext cx="2697480" cy="114300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2"/>
          <p:cNvSpPr/>
          <p:nvPr/>
        </p:nvSpPr>
        <p:spPr>
          <a:xfrm>
            <a:off x="6217920" y="5394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2"/>
          <p:cNvSpPr/>
          <p:nvPr/>
        </p:nvSpPr>
        <p:spPr>
          <a:xfrm>
            <a:off x="6217920" y="6035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Managed by GCP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2"/>
          <p:cNvSpPr/>
          <p:nvPr/>
        </p:nvSpPr>
        <p:spPr>
          <a:xfrm>
            <a:off x="9052560" y="5349240"/>
            <a:ext cx="2697480" cy="114300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2"/>
          <p:cNvSpPr/>
          <p:nvPr/>
        </p:nvSpPr>
        <p:spPr>
          <a:xfrm>
            <a:off x="9052560" y="5394960"/>
            <a:ext cx="2697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2"/>
          <p:cNvSpPr/>
          <p:nvPr/>
        </p:nvSpPr>
        <p:spPr>
          <a:xfrm>
            <a:off x="9052560" y="6035040"/>
            <a:ext cx="2697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Services on Cloud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2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3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11 · TERRAFORM 1.5 · GOOGLE + GOOGLE-BETA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3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Infrastructure as Code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3"/>
          <p:cNvSpPr/>
          <p:nvPr/>
        </p:nvSpPr>
        <p:spPr>
          <a:xfrm>
            <a:off x="548640" y="1463040"/>
            <a:ext cx="3657600" cy="493776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82" name="Google Shape;4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1691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13"/>
          <p:cNvSpPr/>
          <p:nvPr/>
        </p:nvSpPr>
        <p:spPr>
          <a:xfrm>
            <a:off x="141732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Terraform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3"/>
          <p:cNvSpPr/>
          <p:nvPr/>
        </p:nvSpPr>
        <p:spPr>
          <a:xfrm>
            <a:off x="548640" y="265176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0"/>
              <a:buFont typeface="Georgia"/>
              <a:buNone/>
            </a:pPr>
            <a:r>
              <a:rPr b="1" i="0" lang="en-US" sz="130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9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3"/>
          <p:cNvSpPr/>
          <p:nvPr/>
        </p:nvSpPr>
        <p:spPr>
          <a:xfrm>
            <a:off x="548640" y="384048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Terraform modules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3"/>
          <p:cNvSpPr/>
          <p:nvPr/>
        </p:nvSpPr>
        <p:spPr>
          <a:xfrm>
            <a:off x="1371600" y="4297680"/>
            <a:ext cx="2011680" cy="3657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3"/>
          <p:cNvSpPr/>
          <p:nvPr/>
        </p:nvSpPr>
        <p:spPr>
          <a:xfrm>
            <a:off x="548640" y="44348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One command: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3"/>
          <p:cNvSpPr/>
          <p:nvPr/>
        </p:nvSpPr>
        <p:spPr>
          <a:xfrm>
            <a:off x="914400" y="4800600"/>
            <a:ext cx="2926080" cy="548640"/>
          </a:xfrm>
          <a:prstGeom prst="roundRect">
            <a:avLst>
              <a:gd fmla="val 13333" name="adj"/>
            </a:avLst>
          </a:prstGeom>
          <a:solidFill>
            <a:srgbClr val="0F172A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3"/>
          <p:cNvSpPr/>
          <p:nvPr/>
        </p:nvSpPr>
        <p:spPr>
          <a:xfrm>
            <a:off x="914400" y="480060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$ make infra-up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Provisions in ~9 minutes from cold start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3"/>
          <p:cNvSpPr/>
          <p:nvPr/>
        </p:nvSpPr>
        <p:spPr>
          <a:xfrm>
            <a:off x="4480560" y="14630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Modules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3"/>
          <p:cNvSpPr/>
          <p:nvPr/>
        </p:nvSpPr>
        <p:spPr>
          <a:xfrm>
            <a:off x="4480560" y="201168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3"/>
          <p:cNvSpPr/>
          <p:nvPr/>
        </p:nvSpPr>
        <p:spPr>
          <a:xfrm>
            <a:off x="4480560" y="201168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3"/>
          <p:cNvSpPr/>
          <p:nvPr/>
        </p:nvSpPr>
        <p:spPr>
          <a:xfrm>
            <a:off x="4590288" y="21488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main.tf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3"/>
          <p:cNvSpPr/>
          <p:nvPr/>
        </p:nvSpPr>
        <p:spPr>
          <a:xfrm>
            <a:off x="4590288" y="246888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VPC · firewall · service accounts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3"/>
          <p:cNvSpPr/>
          <p:nvPr/>
        </p:nvSpPr>
        <p:spPr>
          <a:xfrm>
            <a:off x="4590288" y="3017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core network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3"/>
          <p:cNvSpPr/>
          <p:nvPr/>
        </p:nvSpPr>
        <p:spPr>
          <a:xfrm>
            <a:off x="6949440" y="201168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3"/>
          <p:cNvSpPr/>
          <p:nvPr/>
        </p:nvSpPr>
        <p:spPr>
          <a:xfrm>
            <a:off x="6949440" y="201168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3"/>
          <p:cNvSpPr/>
          <p:nvPr/>
        </p:nvSpPr>
        <p:spPr>
          <a:xfrm>
            <a:off x="7059168" y="21488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cloud_run_services.tf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/>
          <p:nvPr/>
        </p:nvSpPr>
        <p:spPr>
          <a:xfrm>
            <a:off x="7059168" y="246888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7 Cloud Run services + rev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7059168" y="3017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/>
          <p:nvPr/>
        </p:nvSpPr>
        <p:spPr>
          <a:xfrm>
            <a:off x="9418320" y="201168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3"/>
          <p:cNvSpPr/>
          <p:nvPr/>
        </p:nvSpPr>
        <p:spPr>
          <a:xfrm>
            <a:off x="9418320" y="201168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3"/>
          <p:cNvSpPr/>
          <p:nvPr/>
        </p:nvSpPr>
        <p:spPr>
          <a:xfrm>
            <a:off x="9528048" y="214884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variables.tf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9528048" y="246888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Project · region · sizing · flags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/>
          <p:nvPr/>
        </p:nvSpPr>
        <p:spPr>
          <a:xfrm>
            <a:off x="9528048" y="301752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config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4480560" y="347472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3"/>
          <p:cNvSpPr/>
          <p:nvPr/>
        </p:nvSpPr>
        <p:spPr>
          <a:xfrm>
            <a:off x="4480560" y="347472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3"/>
          <p:cNvSpPr/>
          <p:nvPr/>
        </p:nvSpPr>
        <p:spPr>
          <a:xfrm>
            <a:off x="4590288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outputs.tf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3"/>
          <p:cNvSpPr/>
          <p:nvPr/>
        </p:nvSpPr>
        <p:spPr>
          <a:xfrm>
            <a:off x="4590288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URLs · IPs · service account emails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3"/>
          <p:cNvSpPr/>
          <p:nvPr/>
        </p:nvSpPr>
        <p:spPr>
          <a:xfrm>
            <a:off x="4590288" y="4480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wiring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3"/>
          <p:cNvSpPr/>
          <p:nvPr/>
        </p:nvSpPr>
        <p:spPr>
          <a:xfrm>
            <a:off x="6949440" y="347472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3"/>
          <p:cNvSpPr/>
          <p:nvPr/>
        </p:nvSpPr>
        <p:spPr>
          <a:xfrm>
            <a:off x="6949440" y="347472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13"/>
          <p:cNvSpPr/>
          <p:nvPr/>
        </p:nvSpPr>
        <p:spPr>
          <a:xfrm>
            <a:off x="7059168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cloud_run.tf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3"/>
          <p:cNvSpPr/>
          <p:nvPr/>
        </p:nvSpPr>
        <p:spPr>
          <a:xfrm>
            <a:off x="7059168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Shared Cloud Run base config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3"/>
          <p:cNvSpPr/>
          <p:nvPr/>
        </p:nvSpPr>
        <p:spPr>
          <a:xfrm>
            <a:off x="7059168" y="4480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compute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3"/>
          <p:cNvSpPr/>
          <p:nvPr/>
        </p:nvSpPr>
        <p:spPr>
          <a:xfrm>
            <a:off x="9418320" y="347472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9418320" y="347472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3"/>
          <p:cNvSpPr/>
          <p:nvPr/>
        </p:nvSpPr>
        <p:spPr>
          <a:xfrm>
            <a:off x="9528048" y="361188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cloud_build.tf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3"/>
          <p:cNvSpPr/>
          <p:nvPr/>
        </p:nvSpPr>
        <p:spPr>
          <a:xfrm>
            <a:off x="9528048" y="393192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Build triggers + IAM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13"/>
          <p:cNvSpPr/>
          <p:nvPr/>
        </p:nvSpPr>
        <p:spPr>
          <a:xfrm>
            <a:off x="9528048" y="448056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4480560" y="493776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3"/>
          <p:cNvSpPr/>
          <p:nvPr/>
        </p:nvSpPr>
        <p:spPr>
          <a:xfrm>
            <a:off x="4480560" y="493776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4590288" y="5074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cdn_lb.tf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4590288" y="539496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HTTPS LB · Cloud Armor · CDN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4590288" y="5943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edge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6949440" y="493776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6949440" y="493776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3"/>
          <p:cNvSpPr/>
          <p:nvPr/>
        </p:nvSpPr>
        <p:spPr>
          <a:xfrm>
            <a:off x="7059168" y="5074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bigquery.tf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7059168" y="539496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Analytics warehouse +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7059168" y="5943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9418320" y="4937760"/>
            <a:ext cx="2331720" cy="1325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9418320" y="4937760"/>
            <a:ext cx="2331720" cy="45720"/>
          </a:xfrm>
          <a:prstGeom prst="rect">
            <a:avLst/>
          </a:prstGeom>
          <a:solidFill>
            <a:srgbClr val="7B42BC"/>
          </a:solidFill>
          <a:ln cap="flat" cmpd="sng" w="12700">
            <a:solidFill>
              <a:srgbClr val="7B42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9528048" y="507492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B42BC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7B42BC"/>
                </a:solidFill>
                <a:latin typeface="Consolas"/>
                <a:ea typeface="Consolas"/>
                <a:cs typeface="Consolas"/>
                <a:sym typeface="Consolas"/>
              </a:rPr>
              <a:t>kms.tf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9528048" y="5394960"/>
            <a:ext cx="2103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Customer-managed encryption keys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9528048" y="5943600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4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E17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4"/>
          <p:cNvSpPr/>
          <p:nvPr/>
        </p:nvSpPr>
        <p:spPr>
          <a:xfrm>
            <a:off x="552450" y="495300"/>
            <a:ext cx="285900" cy="38100"/>
          </a:xfrm>
          <a:prstGeom prst="rect">
            <a:avLst/>
          </a:prstGeom>
          <a:solidFill>
            <a:srgbClr val="8A6BE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4"/>
          <p:cNvSpPr/>
          <p:nvPr/>
        </p:nvSpPr>
        <p:spPr>
          <a:xfrm>
            <a:off x="952500" y="40005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REDRAWN CONTINUOUS DEPLOYMENT</a:t>
            </a:r>
            <a:endParaRPr/>
          </a:p>
        </p:txBody>
      </p:sp>
      <p:sp>
        <p:nvSpPr>
          <p:cNvPr id="549" name="Google Shape;549;p14"/>
          <p:cNvSpPr/>
          <p:nvPr/>
        </p:nvSpPr>
        <p:spPr>
          <a:xfrm>
            <a:off x="552450" y="78105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GitHub, Jenkins, Cloud Build, Artifact Registry, and Cloud Run form the release path.</a:t>
            </a:r>
            <a:endParaRPr/>
          </a:p>
        </p:txBody>
      </p:sp>
      <p:sp>
        <p:nvSpPr>
          <p:cNvPr id="550" name="Google Shape;550;p14"/>
          <p:cNvSpPr/>
          <p:nvPr/>
        </p:nvSpPr>
        <p:spPr>
          <a:xfrm>
            <a:off x="590550" y="1581150"/>
            <a:ext cx="10096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This pipeline redraw replaces the report sequence diagram with a simpler deployment story. Code changes move from GitHub to Jenkins, then Cloud Build builds containers, Artifact Registry stores images, Terraform applies infrastructure, and Cloud Run serves the new revision.</a:t>
            </a:r>
            <a:endParaRPr/>
          </a:p>
        </p:txBody>
      </p:sp>
      <p:sp>
        <p:nvSpPr>
          <p:cNvPr id="551" name="Google Shape;551;p14"/>
          <p:cNvSpPr/>
          <p:nvPr/>
        </p:nvSpPr>
        <p:spPr>
          <a:xfrm>
            <a:off x="685800" y="2686050"/>
            <a:ext cx="1333500" cy="781200"/>
          </a:xfrm>
          <a:prstGeom prst="rect">
            <a:avLst/>
          </a:prstGeom>
          <a:solidFill>
            <a:srgbClr val="F4F8FF"/>
          </a:solidFill>
          <a:ln cap="flat" cmpd="sng" w="12375">
            <a:solidFill>
              <a:srgbClr val="4E8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4"/>
          <p:cNvSpPr/>
          <p:nvPr/>
        </p:nvSpPr>
        <p:spPr>
          <a:xfrm>
            <a:off x="685800" y="2686050"/>
            <a:ext cx="1333500" cy="247800"/>
          </a:xfrm>
          <a:prstGeom prst="rect">
            <a:avLst/>
          </a:prstGeom>
          <a:solidFill>
            <a:srgbClr val="4E82F4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4"/>
          <p:cNvSpPr/>
          <p:nvPr/>
        </p:nvSpPr>
        <p:spPr>
          <a:xfrm>
            <a:off x="781050" y="2743200"/>
            <a:ext cx="11430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GitHub</a:t>
            </a:r>
            <a:endParaRPr/>
          </a:p>
        </p:txBody>
      </p:sp>
      <p:sp>
        <p:nvSpPr>
          <p:cNvPr id="554" name="Google Shape;554;p14"/>
          <p:cNvSpPr/>
          <p:nvPr/>
        </p:nvSpPr>
        <p:spPr>
          <a:xfrm>
            <a:off x="800100" y="2990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repo push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webhook</a:t>
            </a:r>
            <a:endParaRPr/>
          </a:p>
        </p:txBody>
      </p:sp>
      <p:sp>
        <p:nvSpPr>
          <p:cNvPr id="555" name="Google Shape;555;p14"/>
          <p:cNvSpPr/>
          <p:nvPr/>
        </p:nvSpPr>
        <p:spPr>
          <a:xfrm>
            <a:off x="2114550" y="3048000"/>
            <a:ext cx="609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4"/>
          <p:cNvSpPr/>
          <p:nvPr/>
        </p:nvSpPr>
        <p:spPr>
          <a:xfrm>
            <a:off x="2647950" y="29432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57" name="Google Shape;557;p14"/>
          <p:cNvSpPr/>
          <p:nvPr/>
        </p:nvSpPr>
        <p:spPr>
          <a:xfrm>
            <a:off x="2857500" y="2686050"/>
            <a:ext cx="1333500" cy="781200"/>
          </a:xfrm>
          <a:prstGeom prst="rect">
            <a:avLst/>
          </a:prstGeom>
          <a:solidFill>
            <a:srgbClr val="F7F3FF"/>
          </a:solidFill>
          <a:ln cap="flat" cmpd="sng" w="12375">
            <a:solidFill>
              <a:srgbClr val="8A6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4"/>
          <p:cNvSpPr/>
          <p:nvPr/>
        </p:nvSpPr>
        <p:spPr>
          <a:xfrm>
            <a:off x="2857500" y="2686050"/>
            <a:ext cx="1333500" cy="247800"/>
          </a:xfrm>
          <a:prstGeom prst="rect">
            <a:avLst/>
          </a:prstGeom>
          <a:solidFill>
            <a:srgbClr val="8A6BE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14"/>
          <p:cNvSpPr/>
          <p:nvPr/>
        </p:nvSpPr>
        <p:spPr>
          <a:xfrm>
            <a:off x="2952750" y="2743200"/>
            <a:ext cx="11430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Jenkins</a:t>
            </a:r>
            <a:endParaRPr/>
          </a:p>
        </p:txBody>
      </p:sp>
      <p:sp>
        <p:nvSpPr>
          <p:cNvPr id="560" name="Google Shape;560;p14"/>
          <p:cNvSpPr/>
          <p:nvPr/>
        </p:nvSpPr>
        <p:spPr>
          <a:xfrm>
            <a:off x="2971800" y="2990850"/>
            <a:ext cx="1104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checkout, auth,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endParaRPr/>
          </a:p>
        </p:txBody>
      </p:sp>
      <p:sp>
        <p:nvSpPr>
          <p:cNvPr id="561" name="Google Shape;561;p14"/>
          <p:cNvSpPr/>
          <p:nvPr/>
        </p:nvSpPr>
        <p:spPr>
          <a:xfrm>
            <a:off x="4286250" y="3048000"/>
            <a:ext cx="609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4"/>
          <p:cNvSpPr/>
          <p:nvPr/>
        </p:nvSpPr>
        <p:spPr>
          <a:xfrm>
            <a:off x="4819650" y="29432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63" name="Google Shape;563;p14"/>
          <p:cNvSpPr/>
          <p:nvPr/>
        </p:nvSpPr>
        <p:spPr>
          <a:xfrm>
            <a:off x="5029200" y="2686050"/>
            <a:ext cx="1428900" cy="781200"/>
          </a:xfrm>
          <a:prstGeom prst="rect">
            <a:avLst/>
          </a:prstGeom>
          <a:solidFill>
            <a:srgbClr val="F0FBF6"/>
          </a:solidFill>
          <a:ln cap="flat" cmpd="sng" w="12375">
            <a:solidFill>
              <a:srgbClr val="2FBF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14"/>
          <p:cNvSpPr/>
          <p:nvPr/>
        </p:nvSpPr>
        <p:spPr>
          <a:xfrm>
            <a:off x="5029200" y="2686050"/>
            <a:ext cx="1428900" cy="247800"/>
          </a:xfrm>
          <a:prstGeom prst="rect">
            <a:avLst/>
          </a:prstGeom>
          <a:solidFill>
            <a:srgbClr val="2FBF83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4"/>
          <p:cNvSpPr/>
          <p:nvPr/>
        </p:nvSpPr>
        <p:spPr>
          <a:xfrm>
            <a:off x="5124450" y="274320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Build</a:t>
            </a:r>
            <a:endParaRPr/>
          </a:p>
        </p:txBody>
      </p:sp>
      <p:sp>
        <p:nvSpPr>
          <p:cNvPr id="566" name="Google Shape;566;p14"/>
          <p:cNvSpPr/>
          <p:nvPr/>
        </p:nvSpPr>
        <p:spPr>
          <a:xfrm>
            <a:off x="5143500" y="299085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build images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run Terraform</a:t>
            </a:r>
            <a:endParaRPr/>
          </a:p>
        </p:txBody>
      </p:sp>
      <p:sp>
        <p:nvSpPr>
          <p:cNvPr id="567" name="Google Shape;567;p14"/>
          <p:cNvSpPr/>
          <p:nvPr/>
        </p:nvSpPr>
        <p:spPr>
          <a:xfrm>
            <a:off x="6572250" y="3048000"/>
            <a:ext cx="609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4"/>
          <p:cNvSpPr/>
          <p:nvPr/>
        </p:nvSpPr>
        <p:spPr>
          <a:xfrm>
            <a:off x="7105650" y="29432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69" name="Google Shape;569;p14"/>
          <p:cNvSpPr/>
          <p:nvPr/>
        </p:nvSpPr>
        <p:spPr>
          <a:xfrm>
            <a:off x="7334250" y="2686050"/>
            <a:ext cx="1524000" cy="781200"/>
          </a:xfrm>
          <a:prstGeom prst="rect">
            <a:avLst/>
          </a:prstGeom>
          <a:solidFill>
            <a:srgbClr val="FFF7E8"/>
          </a:solidFill>
          <a:ln cap="flat" cmpd="sng" w="12375">
            <a:solidFill>
              <a:srgbClr val="F0A8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4"/>
          <p:cNvSpPr/>
          <p:nvPr/>
        </p:nvSpPr>
        <p:spPr>
          <a:xfrm>
            <a:off x="7334250" y="2686050"/>
            <a:ext cx="1524000" cy="247800"/>
          </a:xfrm>
          <a:prstGeom prst="rect">
            <a:avLst/>
          </a:prstGeom>
          <a:solidFill>
            <a:srgbClr val="F0A83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4"/>
          <p:cNvSpPr/>
          <p:nvPr/>
        </p:nvSpPr>
        <p:spPr>
          <a:xfrm>
            <a:off x="7429500" y="2743200"/>
            <a:ext cx="13335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Artifact Registry</a:t>
            </a:r>
            <a:endParaRPr/>
          </a:p>
        </p:txBody>
      </p:sp>
      <p:sp>
        <p:nvSpPr>
          <p:cNvPr id="572" name="Google Shape;572;p14"/>
          <p:cNvSpPr/>
          <p:nvPr/>
        </p:nvSpPr>
        <p:spPr>
          <a:xfrm>
            <a:off x="7448550" y="2990850"/>
            <a:ext cx="12954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versioned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Docker images</a:t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8991600" y="3048000"/>
            <a:ext cx="609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14"/>
          <p:cNvSpPr/>
          <p:nvPr/>
        </p:nvSpPr>
        <p:spPr>
          <a:xfrm>
            <a:off x="9525000" y="29432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575" name="Google Shape;575;p14"/>
          <p:cNvSpPr/>
          <p:nvPr/>
        </p:nvSpPr>
        <p:spPr>
          <a:xfrm>
            <a:off x="9753600" y="2686050"/>
            <a:ext cx="1428900" cy="781200"/>
          </a:xfrm>
          <a:prstGeom prst="rect">
            <a:avLst/>
          </a:prstGeom>
          <a:solidFill>
            <a:srgbClr val="F0FBF6"/>
          </a:solidFill>
          <a:ln cap="flat" cmpd="sng" w="12375">
            <a:solidFill>
              <a:srgbClr val="2FBF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9753600" y="2686050"/>
            <a:ext cx="1428900" cy="247800"/>
          </a:xfrm>
          <a:prstGeom prst="rect">
            <a:avLst/>
          </a:prstGeom>
          <a:solidFill>
            <a:srgbClr val="2FBF83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14"/>
          <p:cNvSpPr/>
          <p:nvPr/>
        </p:nvSpPr>
        <p:spPr>
          <a:xfrm>
            <a:off x="9848850" y="274320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Cloud Run</a:t>
            </a: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9867900" y="299085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new revision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traffic ready</a:t>
            </a:r>
            <a:endParaRPr/>
          </a:p>
        </p:txBody>
      </p:sp>
      <p:sp>
        <p:nvSpPr>
          <p:cNvPr id="579" name="Google Shape;579;p14"/>
          <p:cNvSpPr/>
          <p:nvPr/>
        </p:nvSpPr>
        <p:spPr>
          <a:xfrm>
            <a:off x="914400" y="4000500"/>
            <a:ext cx="1809600" cy="324000"/>
          </a:xfrm>
          <a:prstGeom prst="rect">
            <a:avLst/>
          </a:prstGeom>
          <a:solidFill>
            <a:srgbClr val="182338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4"/>
          <p:cNvSpPr/>
          <p:nvPr/>
        </p:nvSpPr>
        <p:spPr>
          <a:xfrm>
            <a:off x="990600" y="405765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Pipeline stage</a:t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2724150" y="4000500"/>
            <a:ext cx="7524900" cy="324000"/>
          </a:xfrm>
          <a:prstGeom prst="rect">
            <a:avLst/>
          </a:prstGeom>
          <a:solidFill>
            <a:srgbClr val="182338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"/>
          <p:cNvSpPr/>
          <p:nvPr/>
        </p:nvSpPr>
        <p:spPr>
          <a:xfrm>
            <a:off x="2800350" y="405765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proves</a:t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914400" y="4324350"/>
            <a:ext cx="18096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990600" y="438150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Checkout</a:t>
            </a:r>
            <a:endParaRPr/>
          </a:p>
        </p:txBody>
      </p:sp>
      <p:sp>
        <p:nvSpPr>
          <p:cNvPr id="585" name="Google Shape;585;p14"/>
          <p:cNvSpPr/>
          <p:nvPr/>
        </p:nvSpPr>
        <p:spPr>
          <a:xfrm>
            <a:off x="2724150" y="4324350"/>
            <a:ext cx="75249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14"/>
          <p:cNvSpPr/>
          <p:nvPr/>
        </p:nvSpPr>
        <p:spPr>
          <a:xfrm>
            <a:off x="2800350" y="438150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Jenkins is integrated with GitHub and can receive source changes.</a:t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914400" y="4648200"/>
            <a:ext cx="1809600" cy="324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4"/>
          <p:cNvSpPr/>
          <p:nvPr/>
        </p:nvSpPr>
        <p:spPr>
          <a:xfrm>
            <a:off x="990600" y="470535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GCP Auth</a:t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2724150" y="4648200"/>
            <a:ext cx="7524900" cy="324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4"/>
          <p:cNvSpPr/>
          <p:nvPr/>
        </p:nvSpPr>
        <p:spPr>
          <a:xfrm>
            <a:off x="2800350" y="470535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Deployment is performed through a service account, not manual console clicking.</a:t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914400" y="4972050"/>
            <a:ext cx="18096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14"/>
          <p:cNvSpPr/>
          <p:nvPr/>
        </p:nvSpPr>
        <p:spPr>
          <a:xfrm>
            <a:off x="990600" y="502920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Backend tests</a:t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2724150" y="4972050"/>
            <a:ext cx="75249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2800350" y="502920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Go services are validated before deployment proceeds.</a:t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914400" y="5295900"/>
            <a:ext cx="1809600" cy="324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990600" y="535305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Cloud Build</a:t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2724150" y="5295900"/>
            <a:ext cx="7524900" cy="324000"/>
          </a:xfrm>
          <a:prstGeom prst="rect">
            <a:avLst/>
          </a:prstGeom>
          <a:solidFill>
            <a:srgbClr val="FBFAF5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4"/>
          <p:cNvSpPr/>
          <p:nvPr/>
        </p:nvSpPr>
        <p:spPr>
          <a:xfrm>
            <a:off x="2800350" y="535305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Images are built, pushed, and deployed through a cloud-native build executor.</a:t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914400" y="5619750"/>
            <a:ext cx="18096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14"/>
          <p:cNvSpPr/>
          <p:nvPr/>
        </p:nvSpPr>
        <p:spPr>
          <a:xfrm>
            <a:off x="990600" y="5676900"/>
            <a:ext cx="1657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Terraform apply</a:t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2724150" y="5619750"/>
            <a:ext cx="7524900" cy="324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2800350" y="5676900"/>
            <a:ext cx="7372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6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Cloud Run revisions and infrastructure changes are applied from code.</a:t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552450" y="6534150"/>
            <a:ext cx="93345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15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12 · GITHUB → JENKINS → CLOUD BUILD → CLOUD RUN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CI/CD Pipeline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15"/>
          <p:cNvSpPr/>
          <p:nvPr/>
        </p:nvSpPr>
        <p:spPr>
          <a:xfrm>
            <a:off x="548640" y="1554480"/>
            <a:ext cx="21031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1325880" y="1371600"/>
            <a:ext cx="548640" cy="548640"/>
          </a:xfrm>
          <a:prstGeom prst="ellipse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5"/>
          <p:cNvSpPr/>
          <p:nvPr/>
        </p:nvSpPr>
        <p:spPr>
          <a:xfrm>
            <a:off x="13258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4" name="Google Shape;6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44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15"/>
          <p:cNvSpPr/>
          <p:nvPr/>
        </p:nvSpPr>
        <p:spPr>
          <a:xfrm>
            <a:off x="6400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5"/>
          <p:cNvSpPr/>
          <p:nvPr/>
        </p:nvSpPr>
        <p:spPr>
          <a:xfrm>
            <a:off x="6400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push / PR webhook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7" name="Google Shape;617;p15"/>
          <p:cNvCxnSpPr/>
          <p:nvPr/>
        </p:nvCxnSpPr>
        <p:spPr>
          <a:xfrm>
            <a:off x="2651760" y="2468880"/>
            <a:ext cx="18288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18" name="Google Shape;618;p15"/>
          <p:cNvSpPr/>
          <p:nvPr/>
        </p:nvSpPr>
        <p:spPr>
          <a:xfrm>
            <a:off x="2834640" y="1554480"/>
            <a:ext cx="21031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D249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5"/>
          <p:cNvSpPr/>
          <p:nvPr/>
        </p:nvSpPr>
        <p:spPr>
          <a:xfrm>
            <a:off x="3611880" y="1371600"/>
            <a:ext cx="548640" cy="548640"/>
          </a:xfrm>
          <a:prstGeom prst="ellipse">
            <a:avLst/>
          </a:prstGeom>
          <a:solidFill>
            <a:srgbClr val="D24939"/>
          </a:solidFill>
          <a:ln cap="flat" cmpd="sng" w="12700">
            <a:solidFill>
              <a:srgbClr val="D249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5"/>
          <p:cNvSpPr/>
          <p:nvPr/>
        </p:nvSpPr>
        <p:spPr>
          <a:xfrm>
            <a:off x="36118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1" name="Google Shape;6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204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15"/>
          <p:cNvSpPr/>
          <p:nvPr/>
        </p:nvSpPr>
        <p:spPr>
          <a:xfrm>
            <a:off x="29260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Jenkins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5"/>
          <p:cNvSpPr/>
          <p:nvPr/>
        </p:nvSpPr>
        <p:spPr>
          <a:xfrm>
            <a:off x="29260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Okta SAML login · run tests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4" name="Google Shape;624;p15"/>
          <p:cNvCxnSpPr/>
          <p:nvPr/>
        </p:nvCxnSpPr>
        <p:spPr>
          <a:xfrm>
            <a:off x="4937760" y="2468880"/>
            <a:ext cx="18288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25" name="Google Shape;625;p15"/>
          <p:cNvSpPr/>
          <p:nvPr/>
        </p:nvSpPr>
        <p:spPr>
          <a:xfrm>
            <a:off x="5120640" y="1554480"/>
            <a:ext cx="21031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49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5"/>
          <p:cNvSpPr/>
          <p:nvPr/>
        </p:nvSpPr>
        <p:spPr>
          <a:xfrm>
            <a:off x="5897880" y="1371600"/>
            <a:ext cx="548640" cy="548640"/>
          </a:xfrm>
          <a:prstGeom prst="ellipse">
            <a:avLst/>
          </a:prstGeom>
          <a:solidFill>
            <a:srgbClr val="2496ED"/>
          </a:solidFill>
          <a:ln cap="flat" cmpd="sng" w="12700">
            <a:solidFill>
              <a:srgbClr val="2496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15"/>
          <p:cNvSpPr/>
          <p:nvPr/>
        </p:nvSpPr>
        <p:spPr>
          <a:xfrm>
            <a:off x="58978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28" name="Google Shape;62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064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15"/>
          <p:cNvSpPr/>
          <p:nvPr/>
        </p:nvSpPr>
        <p:spPr>
          <a:xfrm>
            <a:off x="52120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Build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5"/>
          <p:cNvSpPr/>
          <p:nvPr/>
        </p:nvSpPr>
        <p:spPr>
          <a:xfrm>
            <a:off x="52120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Multi-stage Docker · Trivy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1" name="Google Shape;631;p15"/>
          <p:cNvCxnSpPr/>
          <p:nvPr/>
        </p:nvCxnSpPr>
        <p:spPr>
          <a:xfrm>
            <a:off x="7223760" y="2468880"/>
            <a:ext cx="18288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2" name="Google Shape;632;p15"/>
          <p:cNvSpPr/>
          <p:nvPr/>
        </p:nvSpPr>
        <p:spPr>
          <a:xfrm>
            <a:off x="7406640" y="1554480"/>
            <a:ext cx="21031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15"/>
          <p:cNvSpPr/>
          <p:nvPr/>
        </p:nvSpPr>
        <p:spPr>
          <a:xfrm>
            <a:off x="8183880" y="1371600"/>
            <a:ext cx="548640" cy="54864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81838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35" name="Google Shape;63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24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15"/>
          <p:cNvSpPr/>
          <p:nvPr/>
        </p:nvSpPr>
        <p:spPr>
          <a:xfrm>
            <a:off x="74980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Artifact Reg.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5"/>
          <p:cNvSpPr/>
          <p:nvPr/>
        </p:nvSpPr>
        <p:spPr>
          <a:xfrm>
            <a:off x="74980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Versioned image storage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8" name="Google Shape;638;p15"/>
          <p:cNvCxnSpPr/>
          <p:nvPr/>
        </p:nvCxnSpPr>
        <p:spPr>
          <a:xfrm>
            <a:off x="9509760" y="2468880"/>
            <a:ext cx="182880" cy="0"/>
          </a:xfrm>
          <a:prstGeom prst="straightConnector1">
            <a:avLst/>
          </a:prstGeom>
          <a:noFill/>
          <a:ln cap="flat" cmpd="sng" w="381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39" name="Google Shape;639;p15"/>
          <p:cNvSpPr/>
          <p:nvPr/>
        </p:nvSpPr>
        <p:spPr>
          <a:xfrm>
            <a:off x="9692640" y="1554480"/>
            <a:ext cx="2103120" cy="18288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10469880" y="1371600"/>
            <a:ext cx="548640" cy="548640"/>
          </a:xfrm>
          <a:prstGeom prst="ellipse">
            <a:avLst/>
          </a:prstGeom>
          <a:solidFill>
            <a:srgbClr val="4285F4"/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5"/>
          <p:cNvSpPr/>
          <p:nvPr/>
        </p:nvSpPr>
        <p:spPr>
          <a:xfrm>
            <a:off x="104698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2" name="Google Shape;64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378440" y="2148840"/>
            <a:ext cx="731520" cy="73152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15"/>
          <p:cNvSpPr/>
          <p:nvPr/>
        </p:nvSpPr>
        <p:spPr>
          <a:xfrm>
            <a:off x="9784080" y="292608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5"/>
          <p:cNvSpPr/>
          <p:nvPr/>
        </p:nvSpPr>
        <p:spPr>
          <a:xfrm>
            <a:off x="9784080" y="3246120"/>
            <a:ext cx="1920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Blue/green revision deploy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548640" y="3840480"/>
            <a:ext cx="5486400" cy="26060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46" name="Google Shape;646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7240" y="4023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15"/>
          <p:cNvSpPr/>
          <p:nvPr/>
        </p:nvSpPr>
        <p:spPr>
          <a:xfrm>
            <a:off x="1371600" y="402336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Pipeline stages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15"/>
          <p:cNvSpPr/>
          <p:nvPr/>
        </p:nvSpPr>
        <p:spPr>
          <a:xfrm>
            <a:off x="868680" y="4526280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Checkout repo at SHA · git lfs pull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GCP auth via Workload Identity (no service-account JSON)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Parallel: go test ./... in every Go service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gcloud builds submit --config cloudbuild-serverless.yaml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Cloud Build: docker build → Trivy scan → push to Artifact Registry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AutoNum type="arabicPeriod"/>
            </a:pPr>
            <a:r>
              <a:rPr b="0" i="0" lang="en-U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Terraform plan + apply (auto-approve in non-prod)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6309360" y="3840480"/>
            <a:ext cx="5486400" cy="260604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50" name="Google Shape;65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7960" y="402336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5"/>
          <p:cNvSpPr/>
          <p:nvPr/>
        </p:nvSpPr>
        <p:spPr>
          <a:xfrm>
            <a:off x="7132320" y="40233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Pipeline security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15"/>
          <p:cNvSpPr/>
          <p:nvPr/>
        </p:nvSpPr>
        <p:spPr>
          <a:xfrm>
            <a:off x="6629400" y="4526280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Jenkins login = Okta SAML (same identity as portal)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org enrolled in Okta (OIDC + SCIM)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Signed commits required on main branch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Trivy CVE scan blocks Critical+ vulns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Run deploy uses least-priv service account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12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13 · 7 SERVICES, 1 MISSION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16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Microservice Catalog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63" name="Google Shape;663;p16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{8B2ED637-CEF0-4ABB-A032-12BF3B3000BE}</a:tableStyleId>
              </a:tblPr>
              <a:tblGrid>
                <a:gridCol w="1828800"/>
                <a:gridCol w="822950"/>
                <a:gridCol w="822950"/>
                <a:gridCol w="5394950"/>
                <a:gridCol w="2194550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Service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Lang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Responsibility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E3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api-gateway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CORS · JWT · rate-limit · reverse-proxy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Mohsen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auth-service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8081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Okta token exchange · JWT mint · users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Mohsen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8082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Read-only enterprise data API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Tamizh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file-service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8083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Upload · GCS · parsing orchestration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Mohsen + Tamizh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parser-service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8090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Python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PDF/DOCX/CSV/TXT chunk extraction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Tamizh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8084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NL→SQL · doc Q&amp;A · NVIDIA NIM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Aditya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7FB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F172A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analytics-service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00"/>
                        <a:buFont typeface="Consolas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C7293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8085</a:t>
                      </a:r>
                      <a:endParaRPr sz="120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72A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F172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KPIs · trends · executive dashboards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4748B"/>
                        </a:buClr>
                        <a:buSzPts val="1200"/>
                        <a:buFont typeface="Calibri"/>
                        <a:buNone/>
                      </a:pPr>
                      <a:r>
                        <a:rPr i="1" lang="en-US" sz="1200" u="none" cap="none" strike="noStrike">
                          <a:solidFill>
                            <a:srgbClr val="64748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Tamizh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64" name="Google Shape;664;p16"/>
          <p:cNvSpPr/>
          <p:nvPr/>
        </p:nvSpPr>
        <p:spPr>
          <a:xfrm>
            <a:off x="548640" y="5577840"/>
            <a:ext cx="11064240" cy="868680"/>
          </a:xfrm>
          <a:prstGeom prst="roundRect">
            <a:avLst>
              <a:gd fmla="val 8421" name="adj"/>
            </a:avLst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5" name="Google Shape;66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57790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6" name="Google Shape;666;p16"/>
          <p:cNvSpPr/>
          <p:nvPr/>
        </p:nvSpPr>
        <p:spPr>
          <a:xfrm>
            <a:off x="1371600" y="566928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Each service: own Cloud Run revision · own service account · own min/max instances · scale-to-zero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6"/>
          <p:cNvSpPr/>
          <p:nvPr/>
        </p:nvSpPr>
        <p:spPr>
          <a:xfrm>
            <a:off x="1371600" y="598932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Communication via REST + JWT inside private VPC. Async events flow through Kafka (portal.ai.requests, portal.notifications).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16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6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6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13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7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14 · OKTA OIDC → PORTAL JWT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7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Auth &amp; SSO Flow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17"/>
          <p:cNvSpPr/>
          <p:nvPr/>
        </p:nvSpPr>
        <p:spPr>
          <a:xfrm>
            <a:off x="5486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7"/>
          <p:cNvSpPr/>
          <p:nvPr/>
        </p:nvSpPr>
        <p:spPr>
          <a:xfrm>
            <a:off x="548640" y="1554480"/>
            <a:ext cx="1783080" cy="457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7"/>
          <p:cNvSpPr/>
          <p:nvPr/>
        </p:nvSpPr>
        <p:spPr>
          <a:xfrm>
            <a:off x="5486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17"/>
          <p:cNvSpPr/>
          <p:nvPr/>
        </p:nvSpPr>
        <p:spPr>
          <a:xfrm>
            <a:off x="6400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 clicks Login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17"/>
          <p:cNvSpPr/>
          <p:nvPr/>
        </p:nvSpPr>
        <p:spPr>
          <a:xfrm>
            <a:off x="6400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Frontend redirects to Okta /authorize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3" name="Google Shape;683;p17"/>
          <p:cNvCxnSpPr/>
          <p:nvPr/>
        </p:nvCxnSpPr>
        <p:spPr>
          <a:xfrm>
            <a:off x="2331720" y="2560320"/>
            <a:ext cx="457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84" name="Google Shape;684;p17"/>
          <p:cNvSpPr/>
          <p:nvPr/>
        </p:nvSpPr>
        <p:spPr>
          <a:xfrm>
            <a:off x="23774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17"/>
          <p:cNvSpPr/>
          <p:nvPr/>
        </p:nvSpPr>
        <p:spPr>
          <a:xfrm>
            <a:off x="2377440" y="1554480"/>
            <a:ext cx="1783080" cy="457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7"/>
          <p:cNvSpPr/>
          <p:nvPr/>
        </p:nvSpPr>
        <p:spPr>
          <a:xfrm>
            <a:off x="23774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7"/>
          <p:cNvSpPr/>
          <p:nvPr/>
        </p:nvSpPr>
        <p:spPr>
          <a:xfrm>
            <a:off x="24688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Okta authenticates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7"/>
          <p:cNvSpPr/>
          <p:nvPr/>
        </p:nvSpPr>
        <p:spPr>
          <a:xfrm>
            <a:off x="24688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MFA · AD federation · OIDC consent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9" name="Google Shape;689;p17"/>
          <p:cNvCxnSpPr/>
          <p:nvPr/>
        </p:nvCxnSpPr>
        <p:spPr>
          <a:xfrm>
            <a:off x="4160520" y="2560320"/>
            <a:ext cx="457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0" name="Google Shape;690;p17"/>
          <p:cNvSpPr/>
          <p:nvPr/>
        </p:nvSpPr>
        <p:spPr>
          <a:xfrm>
            <a:off x="42062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7"/>
          <p:cNvSpPr/>
          <p:nvPr/>
        </p:nvSpPr>
        <p:spPr>
          <a:xfrm>
            <a:off x="4206240" y="1554480"/>
            <a:ext cx="1783080" cy="45720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7"/>
          <p:cNvSpPr/>
          <p:nvPr/>
        </p:nvSpPr>
        <p:spPr>
          <a:xfrm>
            <a:off x="42062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7"/>
          <p:cNvSpPr/>
          <p:nvPr/>
        </p:nvSpPr>
        <p:spPr>
          <a:xfrm>
            <a:off x="42976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Okta → callback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7"/>
          <p:cNvSpPr/>
          <p:nvPr/>
        </p:nvSpPr>
        <p:spPr>
          <a:xfrm>
            <a:off x="42976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Returns auth code to /okta/callback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5" name="Google Shape;695;p17"/>
          <p:cNvCxnSpPr/>
          <p:nvPr/>
        </p:nvCxnSpPr>
        <p:spPr>
          <a:xfrm>
            <a:off x="5989320" y="2560320"/>
            <a:ext cx="457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96" name="Google Shape;696;p17"/>
          <p:cNvSpPr/>
          <p:nvPr/>
        </p:nvSpPr>
        <p:spPr>
          <a:xfrm>
            <a:off x="60350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7"/>
          <p:cNvSpPr/>
          <p:nvPr/>
        </p:nvSpPr>
        <p:spPr>
          <a:xfrm>
            <a:off x="6035040" y="1554480"/>
            <a:ext cx="1783080" cy="457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17"/>
          <p:cNvSpPr/>
          <p:nvPr/>
        </p:nvSpPr>
        <p:spPr>
          <a:xfrm>
            <a:off x="60350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17"/>
          <p:cNvSpPr/>
          <p:nvPr/>
        </p:nvSpPr>
        <p:spPr>
          <a:xfrm>
            <a:off x="61264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Code exchange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7"/>
          <p:cNvSpPr/>
          <p:nvPr/>
        </p:nvSpPr>
        <p:spPr>
          <a:xfrm>
            <a:off x="61264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auth-service POSTs to Okta /token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1" name="Google Shape;701;p17"/>
          <p:cNvCxnSpPr/>
          <p:nvPr/>
        </p:nvCxnSpPr>
        <p:spPr>
          <a:xfrm>
            <a:off x="7818120" y="2560320"/>
            <a:ext cx="457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2" name="Google Shape;702;p17"/>
          <p:cNvSpPr/>
          <p:nvPr/>
        </p:nvSpPr>
        <p:spPr>
          <a:xfrm>
            <a:off x="78638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7"/>
          <p:cNvSpPr/>
          <p:nvPr/>
        </p:nvSpPr>
        <p:spPr>
          <a:xfrm>
            <a:off x="7863840" y="1554480"/>
            <a:ext cx="1783080" cy="457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7"/>
          <p:cNvSpPr/>
          <p:nvPr/>
        </p:nvSpPr>
        <p:spPr>
          <a:xfrm>
            <a:off x="78638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17"/>
          <p:cNvSpPr/>
          <p:nvPr/>
        </p:nvSpPr>
        <p:spPr>
          <a:xfrm>
            <a:off x="79552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Mint portal JWT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7"/>
          <p:cNvSpPr/>
          <p:nvPr/>
        </p:nvSpPr>
        <p:spPr>
          <a:xfrm>
            <a:off x="79552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 HS256 with Secret Manager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7" name="Google Shape;707;p17"/>
          <p:cNvCxnSpPr/>
          <p:nvPr/>
        </p:nvCxnSpPr>
        <p:spPr>
          <a:xfrm>
            <a:off x="9646920" y="2560320"/>
            <a:ext cx="45720" cy="0"/>
          </a:xfrm>
          <a:prstGeom prst="straightConnector1">
            <a:avLst/>
          </a:prstGeom>
          <a:noFill/>
          <a:ln cap="flat" cmpd="sng" w="2540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08" name="Google Shape;708;p17"/>
          <p:cNvSpPr/>
          <p:nvPr/>
        </p:nvSpPr>
        <p:spPr>
          <a:xfrm>
            <a:off x="9692640" y="1554480"/>
            <a:ext cx="1783080" cy="20116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7"/>
          <p:cNvSpPr/>
          <p:nvPr/>
        </p:nvSpPr>
        <p:spPr>
          <a:xfrm>
            <a:off x="9692640" y="1554480"/>
            <a:ext cx="1783080" cy="457200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17"/>
          <p:cNvSpPr/>
          <p:nvPr/>
        </p:nvSpPr>
        <p:spPr>
          <a:xfrm>
            <a:off x="9692640" y="1554480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17"/>
          <p:cNvSpPr/>
          <p:nvPr/>
        </p:nvSpPr>
        <p:spPr>
          <a:xfrm>
            <a:off x="9784080" y="2121408"/>
            <a:ext cx="16002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JWT used everywhere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7"/>
          <p:cNvSpPr/>
          <p:nvPr/>
        </p:nvSpPr>
        <p:spPr>
          <a:xfrm>
            <a:off x="9784080" y="2743200"/>
            <a:ext cx="16002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Gateway verifies on every request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17"/>
          <p:cNvSpPr/>
          <p:nvPr/>
        </p:nvSpPr>
        <p:spPr>
          <a:xfrm>
            <a:off x="548640" y="3840480"/>
            <a:ext cx="5486400" cy="2468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17"/>
          <p:cNvSpPr/>
          <p:nvPr/>
        </p:nvSpPr>
        <p:spPr>
          <a:xfrm>
            <a:off x="777240" y="39776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Portal JWT Payload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17"/>
          <p:cNvSpPr/>
          <p:nvPr/>
        </p:nvSpPr>
        <p:spPr>
          <a:xfrm>
            <a:off x="777240" y="43434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"sub":   "user-uuid",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"email": "alice@corp.com",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"role":  "admin",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"iss":   "portal-auth-service",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"aud":   "portal-api",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CADCFC"/>
                </a:solidFill>
                <a:latin typeface="Consolas"/>
                <a:ea typeface="Consolas"/>
                <a:cs typeface="Consolas"/>
                <a:sym typeface="Consolas"/>
              </a:rPr>
              <a:t>  "exp":   1746500000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7"/>
          <p:cNvSpPr/>
          <p:nvPr/>
        </p:nvSpPr>
        <p:spPr>
          <a:xfrm>
            <a:off x="6309360" y="3840480"/>
            <a:ext cx="5486400" cy="24688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17" name="Google Shape;71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2240" y="39776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17"/>
          <p:cNvSpPr/>
          <p:nvPr/>
        </p:nvSpPr>
        <p:spPr>
          <a:xfrm>
            <a:off x="7040880" y="40233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we verify per request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17"/>
          <p:cNvSpPr/>
          <p:nvPr/>
        </p:nvSpPr>
        <p:spPr>
          <a:xfrm>
            <a:off x="6492240" y="4526280"/>
            <a:ext cx="52120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Signature (HS256, secret from Secret Manager)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iss / aud claims match expected portal values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exp not expired (5-min clock skew tolerance)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Role claim → RBAC check on protected routes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 row still exists &amp; not disabled in Postgres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17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17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7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14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9" name="Google Shape;729;p18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0E1726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0" name="Google Shape;730;p18"/>
          <p:cNvSpPr/>
          <p:nvPr/>
        </p:nvSpPr>
        <p:spPr>
          <a:xfrm>
            <a:off x="552450" y="495300"/>
            <a:ext cx="285900" cy="38100"/>
          </a:xfrm>
          <a:prstGeom prst="rect">
            <a:avLst/>
          </a:prstGeom>
          <a:solidFill>
            <a:srgbClr val="E85B5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8"/>
          <p:cNvSpPr/>
          <p:nvPr/>
        </p:nvSpPr>
        <p:spPr>
          <a:xfrm>
            <a:off x="952500" y="400050"/>
            <a:ext cx="7048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REDRAWN LAYERED CLOUD SECURITY</a:t>
            </a:r>
            <a:endParaRPr/>
          </a:p>
        </p:txBody>
      </p:sp>
      <p:sp>
        <p:nvSpPr>
          <p:cNvPr id="732" name="Google Shape;732;p18"/>
          <p:cNvSpPr/>
          <p:nvPr/>
        </p:nvSpPr>
        <p:spPr>
          <a:xfrm>
            <a:off x="552450" y="781050"/>
            <a:ext cx="10287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72033"/>
                </a:solidFill>
                <a:latin typeface="Play"/>
                <a:ea typeface="Play"/>
                <a:cs typeface="Play"/>
                <a:sym typeface="Play"/>
              </a:rPr>
              <a:t>Security is layered across identity, edge, network, workload, data, and operations.</a:t>
            </a:r>
            <a:endParaRPr/>
          </a:p>
        </p:txBody>
      </p:sp>
      <p:sp>
        <p:nvSpPr>
          <p:cNvPr id="733" name="Google Shape;733;p18"/>
          <p:cNvSpPr/>
          <p:nvPr/>
        </p:nvSpPr>
        <p:spPr>
          <a:xfrm>
            <a:off x="590550" y="1581150"/>
            <a:ext cx="9906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9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The earlier security diagram was too small to read, so this slide rebuilds the model as a clear set of defenses. A request must pass identity checks, gateway controls, network boundaries, service IAM, data protection, and audit/monitoring layers.</a:t>
            </a:r>
            <a:endParaRPr/>
          </a:p>
        </p:txBody>
      </p:sp>
      <p:sp>
        <p:nvSpPr>
          <p:cNvPr id="734" name="Google Shape;734;p18"/>
          <p:cNvSpPr/>
          <p:nvPr/>
        </p:nvSpPr>
        <p:spPr>
          <a:xfrm>
            <a:off x="666750" y="2781300"/>
            <a:ext cx="1428900" cy="800100"/>
          </a:xfrm>
          <a:prstGeom prst="rect">
            <a:avLst/>
          </a:prstGeom>
          <a:solidFill>
            <a:srgbClr val="FFF7E8"/>
          </a:solidFill>
          <a:ln cap="flat" cmpd="sng" w="12375">
            <a:solidFill>
              <a:srgbClr val="F0A8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8"/>
          <p:cNvSpPr/>
          <p:nvPr/>
        </p:nvSpPr>
        <p:spPr>
          <a:xfrm>
            <a:off x="666750" y="2781300"/>
            <a:ext cx="1428900" cy="247800"/>
          </a:xfrm>
          <a:prstGeom prst="rect">
            <a:avLst/>
          </a:prstGeom>
          <a:solidFill>
            <a:srgbClr val="F0A83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18"/>
          <p:cNvSpPr/>
          <p:nvPr/>
        </p:nvSpPr>
        <p:spPr>
          <a:xfrm>
            <a:off x="762000" y="283845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Identity</a:t>
            </a:r>
            <a:endParaRPr/>
          </a:p>
        </p:txBody>
      </p:sp>
      <p:sp>
        <p:nvSpPr>
          <p:cNvPr id="737" name="Google Shape;737;p18"/>
          <p:cNvSpPr/>
          <p:nvPr/>
        </p:nvSpPr>
        <p:spPr>
          <a:xfrm>
            <a:off x="781050" y="308610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Okta OIDC / SAML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MFA-ready policies</a:t>
            </a:r>
            <a:endParaRPr/>
          </a:p>
        </p:txBody>
      </p:sp>
      <p:sp>
        <p:nvSpPr>
          <p:cNvPr id="738" name="Google Shape;738;p18"/>
          <p:cNvSpPr/>
          <p:nvPr/>
        </p:nvSpPr>
        <p:spPr>
          <a:xfrm>
            <a:off x="2209800" y="3162300"/>
            <a:ext cx="552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18"/>
          <p:cNvSpPr/>
          <p:nvPr/>
        </p:nvSpPr>
        <p:spPr>
          <a:xfrm>
            <a:off x="2686050" y="30575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740" name="Google Shape;740;p18"/>
          <p:cNvSpPr/>
          <p:nvPr/>
        </p:nvSpPr>
        <p:spPr>
          <a:xfrm>
            <a:off x="2895600" y="2781300"/>
            <a:ext cx="1428900" cy="800100"/>
          </a:xfrm>
          <a:prstGeom prst="rect">
            <a:avLst/>
          </a:prstGeom>
          <a:solidFill>
            <a:srgbClr val="FFF4F4"/>
          </a:solidFill>
          <a:ln cap="flat" cmpd="sng" w="12375">
            <a:solidFill>
              <a:srgbClr val="E85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8"/>
          <p:cNvSpPr/>
          <p:nvPr/>
        </p:nvSpPr>
        <p:spPr>
          <a:xfrm>
            <a:off x="2895600" y="2781300"/>
            <a:ext cx="1428900" cy="247800"/>
          </a:xfrm>
          <a:prstGeom prst="rect">
            <a:avLst/>
          </a:prstGeom>
          <a:solidFill>
            <a:srgbClr val="E85B5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2" name="Google Shape;742;p18"/>
          <p:cNvSpPr/>
          <p:nvPr/>
        </p:nvSpPr>
        <p:spPr>
          <a:xfrm>
            <a:off x="2990850" y="283845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Edge</a:t>
            </a:r>
            <a:endParaRPr/>
          </a:p>
        </p:txBody>
      </p:sp>
      <p:sp>
        <p:nvSpPr>
          <p:cNvPr id="743" name="Google Shape;743;p18"/>
          <p:cNvSpPr/>
          <p:nvPr/>
        </p:nvSpPr>
        <p:spPr>
          <a:xfrm>
            <a:off x="3009900" y="308610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Cloud Armor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WAF + rate limits</a:t>
            </a:r>
            <a:endParaRPr/>
          </a:p>
        </p:txBody>
      </p:sp>
      <p:sp>
        <p:nvSpPr>
          <p:cNvPr id="744" name="Google Shape;744;p18"/>
          <p:cNvSpPr/>
          <p:nvPr/>
        </p:nvSpPr>
        <p:spPr>
          <a:xfrm>
            <a:off x="4438650" y="3162300"/>
            <a:ext cx="552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5" name="Google Shape;745;p18"/>
          <p:cNvSpPr/>
          <p:nvPr/>
        </p:nvSpPr>
        <p:spPr>
          <a:xfrm>
            <a:off x="4914900" y="30575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746" name="Google Shape;746;p18"/>
          <p:cNvSpPr/>
          <p:nvPr/>
        </p:nvSpPr>
        <p:spPr>
          <a:xfrm>
            <a:off x="5124450" y="2781300"/>
            <a:ext cx="1428900" cy="800100"/>
          </a:xfrm>
          <a:prstGeom prst="rect">
            <a:avLst/>
          </a:prstGeom>
          <a:solidFill>
            <a:srgbClr val="F4F8FF"/>
          </a:solidFill>
          <a:ln cap="flat" cmpd="sng" w="12375">
            <a:solidFill>
              <a:srgbClr val="4E82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8"/>
          <p:cNvSpPr/>
          <p:nvPr/>
        </p:nvSpPr>
        <p:spPr>
          <a:xfrm>
            <a:off x="5124450" y="2781300"/>
            <a:ext cx="1428900" cy="247800"/>
          </a:xfrm>
          <a:prstGeom prst="rect">
            <a:avLst/>
          </a:prstGeom>
          <a:solidFill>
            <a:srgbClr val="4E82F4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8"/>
          <p:cNvSpPr/>
          <p:nvPr/>
        </p:nvSpPr>
        <p:spPr>
          <a:xfrm>
            <a:off x="5219700" y="283845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3. Gateway</a:t>
            </a:r>
            <a:endParaRPr/>
          </a:p>
        </p:txBody>
      </p:sp>
      <p:sp>
        <p:nvSpPr>
          <p:cNvPr id="749" name="Google Shape;749;p18"/>
          <p:cNvSpPr/>
          <p:nvPr/>
        </p:nvSpPr>
        <p:spPr>
          <a:xfrm>
            <a:off x="5238750" y="308610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JWT validation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CORS controls</a:t>
            </a:r>
            <a:endParaRPr/>
          </a:p>
        </p:txBody>
      </p:sp>
      <p:sp>
        <p:nvSpPr>
          <p:cNvPr id="750" name="Google Shape;750;p18"/>
          <p:cNvSpPr/>
          <p:nvPr/>
        </p:nvSpPr>
        <p:spPr>
          <a:xfrm>
            <a:off x="6667500" y="3162300"/>
            <a:ext cx="552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18"/>
          <p:cNvSpPr/>
          <p:nvPr/>
        </p:nvSpPr>
        <p:spPr>
          <a:xfrm>
            <a:off x="7143750" y="30575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752" name="Google Shape;752;p18"/>
          <p:cNvSpPr/>
          <p:nvPr/>
        </p:nvSpPr>
        <p:spPr>
          <a:xfrm>
            <a:off x="7353300" y="2781300"/>
            <a:ext cx="1428900" cy="800100"/>
          </a:xfrm>
          <a:prstGeom prst="rect">
            <a:avLst/>
          </a:prstGeom>
          <a:solidFill>
            <a:srgbClr val="F0FBF6"/>
          </a:solidFill>
          <a:ln cap="flat" cmpd="sng" w="12375">
            <a:solidFill>
              <a:srgbClr val="2FBF8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18"/>
          <p:cNvSpPr/>
          <p:nvPr/>
        </p:nvSpPr>
        <p:spPr>
          <a:xfrm>
            <a:off x="7353300" y="2781300"/>
            <a:ext cx="1428900" cy="247800"/>
          </a:xfrm>
          <a:prstGeom prst="rect">
            <a:avLst/>
          </a:prstGeom>
          <a:solidFill>
            <a:srgbClr val="2FBF83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8"/>
          <p:cNvSpPr/>
          <p:nvPr/>
        </p:nvSpPr>
        <p:spPr>
          <a:xfrm>
            <a:off x="7448550" y="283845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4. Network</a:t>
            </a:r>
            <a:endParaRPr/>
          </a:p>
        </p:txBody>
      </p:sp>
      <p:sp>
        <p:nvSpPr>
          <p:cNvPr id="755" name="Google Shape;755;p18"/>
          <p:cNvSpPr/>
          <p:nvPr/>
        </p:nvSpPr>
        <p:spPr>
          <a:xfrm>
            <a:off x="7467600" y="308610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private SQL/Redis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VPC access</a:t>
            </a:r>
            <a:endParaRPr/>
          </a:p>
        </p:txBody>
      </p:sp>
      <p:sp>
        <p:nvSpPr>
          <p:cNvPr id="756" name="Google Shape;756;p18"/>
          <p:cNvSpPr/>
          <p:nvPr/>
        </p:nvSpPr>
        <p:spPr>
          <a:xfrm>
            <a:off x="8896350" y="3162300"/>
            <a:ext cx="552600" cy="28500"/>
          </a:xfrm>
          <a:prstGeom prst="rect">
            <a:avLst/>
          </a:prstGeom>
          <a:solidFill>
            <a:srgbClr val="667085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18"/>
          <p:cNvSpPr/>
          <p:nvPr/>
        </p:nvSpPr>
        <p:spPr>
          <a:xfrm>
            <a:off x="9372600" y="3057525"/>
            <a:ext cx="133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</p:txBody>
      </p:sp>
      <p:sp>
        <p:nvSpPr>
          <p:cNvPr id="758" name="Google Shape;758;p18"/>
          <p:cNvSpPr/>
          <p:nvPr/>
        </p:nvSpPr>
        <p:spPr>
          <a:xfrm>
            <a:off x="9582150" y="2781300"/>
            <a:ext cx="1428900" cy="800100"/>
          </a:xfrm>
          <a:prstGeom prst="rect">
            <a:avLst/>
          </a:prstGeom>
          <a:solidFill>
            <a:srgbClr val="F7F3FF"/>
          </a:solidFill>
          <a:ln cap="flat" cmpd="sng" w="12375">
            <a:solidFill>
              <a:srgbClr val="8A6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18"/>
          <p:cNvSpPr/>
          <p:nvPr/>
        </p:nvSpPr>
        <p:spPr>
          <a:xfrm>
            <a:off x="9582150" y="2781300"/>
            <a:ext cx="1428900" cy="247800"/>
          </a:xfrm>
          <a:prstGeom prst="rect">
            <a:avLst/>
          </a:prstGeom>
          <a:solidFill>
            <a:srgbClr val="8A6BE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8"/>
          <p:cNvSpPr/>
          <p:nvPr/>
        </p:nvSpPr>
        <p:spPr>
          <a:xfrm>
            <a:off x="9677400" y="2838450"/>
            <a:ext cx="1238400" cy="1428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13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5. Data</a:t>
            </a:r>
            <a:endParaRPr/>
          </a:p>
        </p:txBody>
      </p:sp>
      <p:sp>
        <p:nvSpPr>
          <p:cNvPr id="761" name="Google Shape;761;p18"/>
          <p:cNvSpPr/>
          <p:nvPr/>
        </p:nvSpPr>
        <p:spPr>
          <a:xfrm>
            <a:off x="9696450" y="3086100"/>
            <a:ext cx="1200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KMS, secrets,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5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backups</a:t>
            </a:r>
            <a:endParaRPr/>
          </a:p>
        </p:txBody>
      </p:sp>
      <p:sp>
        <p:nvSpPr>
          <p:cNvPr id="762" name="Google Shape;762;p18"/>
          <p:cNvSpPr/>
          <p:nvPr/>
        </p:nvSpPr>
        <p:spPr>
          <a:xfrm>
            <a:off x="914400" y="4248150"/>
            <a:ext cx="2857500" cy="952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3" name="Google Shape;763;p18"/>
          <p:cNvSpPr/>
          <p:nvPr/>
        </p:nvSpPr>
        <p:spPr>
          <a:xfrm>
            <a:off x="914400" y="4248150"/>
            <a:ext cx="47700" cy="952500"/>
          </a:xfrm>
          <a:prstGeom prst="rect">
            <a:avLst/>
          </a:prstGeom>
          <a:solidFill>
            <a:srgbClr val="F0A83A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8"/>
          <p:cNvSpPr/>
          <p:nvPr/>
        </p:nvSpPr>
        <p:spPr>
          <a:xfrm>
            <a:off x="1066800" y="4362450"/>
            <a:ext cx="25908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Identity and gateway</a:t>
            </a:r>
            <a:endParaRPr/>
          </a:p>
        </p:txBody>
      </p:sp>
      <p:sp>
        <p:nvSpPr>
          <p:cNvPr id="765" name="Google Shape;765;p18"/>
          <p:cNvSpPr/>
          <p:nvPr/>
        </p:nvSpPr>
        <p:spPr>
          <a:xfrm>
            <a:off x="1066800" y="4610100"/>
            <a:ext cx="2590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3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Okta handles human login. The API Gateway rejects missing, malformed, or expired JWTs before internal APIs are reached.</a:t>
            </a:r>
            <a:endParaRPr/>
          </a:p>
        </p:txBody>
      </p:sp>
      <p:sp>
        <p:nvSpPr>
          <p:cNvPr id="766" name="Google Shape;766;p18"/>
          <p:cNvSpPr/>
          <p:nvPr/>
        </p:nvSpPr>
        <p:spPr>
          <a:xfrm>
            <a:off x="4114800" y="4286250"/>
            <a:ext cx="2857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7" name="Google Shape;767;p18"/>
          <p:cNvSpPr/>
          <p:nvPr/>
        </p:nvSpPr>
        <p:spPr>
          <a:xfrm>
            <a:off x="4114800" y="4286250"/>
            <a:ext cx="47700" cy="838200"/>
          </a:xfrm>
          <a:prstGeom prst="rect">
            <a:avLst/>
          </a:prstGeom>
          <a:solidFill>
            <a:srgbClr val="2FBF83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8"/>
          <p:cNvSpPr/>
          <p:nvPr/>
        </p:nvSpPr>
        <p:spPr>
          <a:xfrm>
            <a:off x="4267200" y="4400550"/>
            <a:ext cx="25908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Network and workload</a:t>
            </a:r>
            <a:endParaRPr/>
          </a:p>
        </p:txBody>
      </p:sp>
      <p:sp>
        <p:nvSpPr>
          <p:cNvPr id="769" name="Google Shape;769;p18"/>
          <p:cNvSpPr/>
          <p:nvPr/>
        </p:nvSpPr>
        <p:spPr>
          <a:xfrm>
            <a:off x="4267200" y="464820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7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Only frontend and API Gateway are public. Backend Cloud Run services are internal and use service accounts.</a:t>
            </a:r>
            <a:endParaRPr/>
          </a:p>
        </p:txBody>
      </p:sp>
      <p:sp>
        <p:nvSpPr>
          <p:cNvPr id="770" name="Google Shape;770;p18"/>
          <p:cNvSpPr/>
          <p:nvPr/>
        </p:nvSpPr>
        <p:spPr>
          <a:xfrm>
            <a:off x="7315200" y="4286250"/>
            <a:ext cx="2857500" cy="838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18"/>
          <p:cNvSpPr/>
          <p:nvPr/>
        </p:nvSpPr>
        <p:spPr>
          <a:xfrm>
            <a:off x="7315200" y="4286250"/>
            <a:ext cx="47700" cy="838200"/>
          </a:xfrm>
          <a:prstGeom prst="rect">
            <a:avLst/>
          </a:prstGeom>
          <a:solidFill>
            <a:srgbClr val="8A6BE8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8"/>
          <p:cNvSpPr/>
          <p:nvPr/>
        </p:nvSpPr>
        <p:spPr>
          <a:xfrm>
            <a:off x="7467600" y="4400550"/>
            <a:ext cx="25908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Data protection</a:t>
            </a:r>
            <a:endParaRPr/>
          </a:p>
        </p:txBody>
      </p:sp>
      <p:sp>
        <p:nvSpPr>
          <p:cNvPr id="773" name="Google Shape;773;p18"/>
          <p:cNvSpPr/>
          <p:nvPr/>
        </p:nvSpPr>
        <p:spPr>
          <a:xfrm>
            <a:off x="7467600" y="464820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57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Secret Manager stores credentials; KMS defines encryption keys; Cloud SQL and Redis stay private.</a:t>
            </a:r>
            <a:endParaRPr/>
          </a:p>
        </p:txBody>
      </p:sp>
      <p:sp>
        <p:nvSpPr>
          <p:cNvPr id="774" name="Google Shape;774;p18"/>
          <p:cNvSpPr/>
          <p:nvPr/>
        </p:nvSpPr>
        <p:spPr>
          <a:xfrm>
            <a:off x="2514600" y="5410200"/>
            <a:ext cx="28575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18"/>
          <p:cNvSpPr/>
          <p:nvPr/>
        </p:nvSpPr>
        <p:spPr>
          <a:xfrm>
            <a:off x="2514600" y="5410200"/>
            <a:ext cx="47700" cy="723900"/>
          </a:xfrm>
          <a:prstGeom prst="rect">
            <a:avLst/>
          </a:prstGeom>
          <a:solidFill>
            <a:srgbClr val="4E82F4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8"/>
          <p:cNvSpPr/>
          <p:nvPr/>
        </p:nvSpPr>
        <p:spPr>
          <a:xfrm>
            <a:off x="2667000" y="5524500"/>
            <a:ext cx="25908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/>
          </a:p>
        </p:txBody>
      </p:sp>
      <p:sp>
        <p:nvSpPr>
          <p:cNvPr id="777" name="Google Shape;777;p18"/>
          <p:cNvSpPr/>
          <p:nvPr/>
        </p:nvSpPr>
        <p:spPr>
          <a:xfrm>
            <a:off x="2667000" y="57721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3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Cloud Logging, Cloud Monitoring alerts, log sinks, image scanning, and health checks provide auditability.</a:t>
            </a:r>
            <a:endParaRPr/>
          </a:p>
        </p:txBody>
      </p:sp>
      <p:sp>
        <p:nvSpPr>
          <p:cNvPr id="778" name="Google Shape;778;p18"/>
          <p:cNvSpPr/>
          <p:nvPr/>
        </p:nvSpPr>
        <p:spPr>
          <a:xfrm>
            <a:off x="5715000" y="5410200"/>
            <a:ext cx="3276600" cy="7239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8D1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18"/>
          <p:cNvSpPr/>
          <p:nvPr/>
        </p:nvSpPr>
        <p:spPr>
          <a:xfrm>
            <a:off x="5715000" y="5410200"/>
            <a:ext cx="47700" cy="723900"/>
          </a:xfrm>
          <a:prstGeom prst="rect">
            <a:avLst/>
          </a:prstGeom>
          <a:solidFill>
            <a:srgbClr val="E85B5B"/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8"/>
          <p:cNvSpPr/>
          <p:nvPr/>
        </p:nvSpPr>
        <p:spPr>
          <a:xfrm>
            <a:off x="5867400" y="5524500"/>
            <a:ext cx="3009900" cy="2097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Security result</a:t>
            </a:r>
            <a:endParaRPr/>
          </a:p>
        </p:txBody>
      </p:sp>
      <p:sp>
        <p:nvSpPr>
          <p:cNvPr id="781" name="Google Shape;781;p18"/>
          <p:cNvSpPr/>
          <p:nvPr/>
        </p:nvSpPr>
        <p:spPr>
          <a:xfrm>
            <a:off x="5867400" y="5772150"/>
            <a:ext cx="3009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35">
                <a:solidFill>
                  <a:srgbClr val="667085"/>
                </a:solidFill>
                <a:latin typeface="Arial"/>
                <a:ea typeface="Arial"/>
                <a:cs typeface="Arial"/>
                <a:sym typeface="Arial"/>
              </a:rPr>
              <a:t>SSO is only the first layer. The system also defends API traffic, service permissions, data access, and operations.</a:t>
            </a:r>
            <a:endParaRPr/>
          </a:p>
        </p:txBody>
      </p:sp>
      <p:sp>
        <p:nvSpPr>
          <p:cNvPr id="782" name="Google Shape;782;p18"/>
          <p:cNvSpPr/>
          <p:nvPr/>
        </p:nvSpPr>
        <p:spPr>
          <a:xfrm>
            <a:off x="552450" y="6534150"/>
            <a:ext cx="93345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3" name="Google Shape;783;p18"/>
          <p:cNvSpPr/>
          <p:nvPr/>
        </p:nvSpPr>
        <p:spPr>
          <a:xfrm>
            <a:off x="11277600" y="6534150"/>
            <a:ext cx="400200" cy="171600"/>
          </a:xfrm>
          <a:prstGeom prst="rect">
            <a:avLst/>
          </a:prstGeom>
          <a:solidFill>
            <a:srgbClr val="000000">
              <a:alpha val="0"/>
            </a:srgbClr>
          </a:solidFill>
          <a:ln cap="flat" cmpd="sng" w="9525">
            <a:solidFill>
              <a:srgbClr val="00000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p19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16 · POSTGRESQL 15 ON CLOUD SQL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9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Data Engineering &amp; Schema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19"/>
          <p:cNvSpPr/>
          <p:nvPr/>
        </p:nvSpPr>
        <p:spPr>
          <a:xfrm>
            <a:off x="548640" y="1417320"/>
            <a:ext cx="2697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2" name="Google Shape;792;p19"/>
          <p:cNvSpPr/>
          <p:nvPr/>
        </p:nvSpPr>
        <p:spPr>
          <a:xfrm>
            <a:off x="548640" y="1417320"/>
            <a:ext cx="2697480" cy="54864"/>
          </a:xfrm>
          <a:prstGeom prst="rect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9"/>
          <p:cNvSpPr/>
          <p:nvPr/>
        </p:nvSpPr>
        <p:spPr>
          <a:xfrm>
            <a:off x="640080" y="155448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059669"/>
                </a:solidFill>
                <a:latin typeface="Georgia"/>
                <a:ea typeface="Georgia"/>
                <a:cs typeface="Georgia"/>
                <a:sym typeface="Georgia"/>
              </a:rPr>
              <a:t>12+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19"/>
          <p:cNvSpPr/>
          <p:nvPr/>
        </p:nvSpPr>
        <p:spPr>
          <a:xfrm>
            <a:off x="64008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9"/>
          <p:cNvSpPr/>
          <p:nvPr/>
        </p:nvSpPr>
        <p:spPr>
          <a:xfrm>
            <a:off x="3383280" y="1417320"/>
            <a:ext cx="2697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19"/>
          <p:cNvSpPr/>
          <p:nvPr/>
        </p:nvSpPr>
        <p:spPr>
          <a:xfrm>
            <a:off x="3383280" y="1417320"/>
            <a:ext cx="2697480" cy="54864"/>
          </a:xfrm>
          <a:prstGeom prst="rect">
            <a:avLst/>
          </a:prstGeom>
          <a:solidFill>
            <a:srgbClr val="1C7293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9"/>
          <p:cNvSpPr/>
          <p:nvPr/>
        </p:nvSpPr>
        <p:spPr>
          <a:xfrm>
            <a:off x="3474720" y="155448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1C7293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9"/>
          <p:cNvSpPr/>
          <p:nvPr/>
        </p:nvSpPr>
        <p:spPr>
          <a:xfrm>
            <a:off x="347472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Data Domains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19"/>
          <p:cNvSpPr/>
          <p:nvPr/>
        </p:nvSpPr>
        <p:spPr>
          <a:xfrm>
            <a:off x="6217920" y="1417320"/>
            <a:ext cx="2697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19"/>
          <p:cNvSpPr/>
          <p:nvPr/>
        </p:nvSpPr>
        <p:spPr>
          <a:xfrm>
            <a:off x="6217920" y="1417320"/>
            <a:ext cx="2697480" cy="548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9"/>
          <p:cNvSpPr/>
          <p:nvPr/>
        </p:nvSpPr>
        <p:spPr>
          <a:xfrm>
            <a:off x="6309360" y="155448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7C3AED"/>
                </a:solidFill>
                <a:latin typeface="Georgia"/>
                <a:ea typeface="Georgia"/>
                <a:cs typeface="Georgia"/>
                <a:sym typeface="Georgia"/>
              </a:rPr>
              <a:t>PITR 7d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9"/>
          <p:cNvSpPr/>
          <p:nvPr/>
        </p:nvSpPr>
        <p:spPr>
          <a:xfrm>
            <a:off x="630936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Backup Window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19"/>
          <p:cNvSpPr/>
          <p:nvPr/>
        </p:nvSpPr>
        <p:spPr>
          <a:xfrm>
            <a:off x="9052560" y="1417320"/>
            <a:ext cx="269748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19"/>
          <p:cNvSpPr/>
          <p:nvPr/>
        </p:nvSpPr>
        <p:spPr>
          <a:xfrm>
            <a:off x="9052560" y="1417320"/>
            <a:ext cx="269748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9"/>
          <p:cNvSpPr/>
          <p:nvPr/>
        </p:nvSpPr>
        <p:spPr>
          <a:xfrm>
            <a:off x="9144000" y="1554480"/>
            <a:ext cx="2514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60s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9"/>
          <p:cNvSpPr/>
          <p:nvPr/>
        </p:nvSpPr>
        <p:spPr>
          <a:xfrm>
            <a:off x="9144000" y="2331720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KPI Cache TTL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19"/>
          <p:cNvSpPr/>
          <p:nvPr/>
        </p:nvSpPr>
        <p:spPr>
          <a:xfrm>
            <a:off x="548640" y="2880360"/>
            <a:ext cx="5943600" cy="361188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08" name="Google Shape;8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063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09" name="Google Shape;809;p19"/>
          <p:cNvSpPr/>
          <p:nvPr/>
        </p:nvSpPr>
        <p:spPr>
          <a:xfrm>
            <a:off x="1371600" y="30632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Schema Highlights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9"/>
          <p:cNvSpPr/>
          <p:nvPr/>
        </p:nvSpPr>
        <p:spPr>
          <a:xfrm>
            <a:off x="868680" y="3611880"/>
            <a:ext cx="54864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users — JIT provisioned from Okta sub claim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enterprise_employees / products / sales / inventory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uploaded_files — owner, GCS URI, status, size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file_chunks — ordered chunks with offset + metadata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query_history — every NL→SQL request audited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ai_jobs — async job state for chat polling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F172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kpi_snapshots — pre-aggregated for dashboards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19"/>
          <p:cNvSpPr/>
          <p:nvPr/>
        </p:nvSpPr>
        <p:spPr>
          <a:xfrm>
            <a:off x="6766560" y="2880360"/>
            <a:ext cx="5029200" cy="3611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2" name="Google Shape;81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95160" y="3063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19"/>
          <p:cNvSpPr/>
          <p:nvPr/>
        </p:nvSpPr>
        <p:spPr>
          <a:xfrm>
            <a:off x="7589520" y="3063240"/>
            <a:ext cx="4206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Analytics Service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9"/>
          <p:cNvSpPr/>
          <p:nvPr/>
        </p:nvSpPr>
        <p:spPr>
          <a:xfrm>
            <a:off x="7040880" y="3611880"/>
            <a:ext cx="45720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Sales / headcount / inventory KPIs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Time-series trend reports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 report builder via SQL DSL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Caches hot KPIs in Redis (60s TTL)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Streams rows to dashboard via SSE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19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19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19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16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20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17 · PYTHON FASTAPI · INGESTION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20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Parser Service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20"/>
          <p:cNvSpPr/>
          <p:nvPr/>
        </p:nvSpPr>
        <p:spPr>
          <a:xfrm>
            <a:off x="548640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20"/>
          <p:cNvSpPr/>
          <p:nvPr/>
        </p:nvSpPr>
        <p:spPr>
          <a:xfrm>
            <a:off x="1143000" y="1783080"/>
            <a:ext cx="594360" cy="594360"/>
          </a:xfrm>
          <a:prstGeom prst="ellipse">
            <a:avLst/>
          </a:prstGeom>
          <a:solidFill>
            <a:srgbClr val="0891B2">
              <a:alpha val="20000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27" name="Google Shape;82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1872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20"/>
          <p:cNvSpPr/>
          <p:nvPr/>
        </p:nvSpPr>
        <p:spPr>
          <a:xfrm>
            <a:off x="594360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Upload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20"/>
          <p:cNvSpPr/>
          <p:nvPr/>
        </p:nvSpPr>
        <p:spPr>
          <a:xfrm>
            <a:off x="594360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0" name="Google Shape;830;p20"/>
          <p:cNvCxnSpPr/>
          <p:nvPr/>
        </p:nvCxnSpPr>
        <p:spPr>
          <a:xfrm>
            <a:off x="2331720" y="246888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1" name="Google Shape;831;p20"/>
          <p:cNvSpPr/>
          <p:nvPr/>
        </p:nvSpPr>
        <p:spPr>
          <a:xfrm>
            <a:off x="2496312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0"/>
          <p:cNvSpPr/>
          <p:nvPr/>
        </p:nvSpPr>
        <p:spPr>
          <a:xfrm>
            <a:off x="3090672" y="1783080"/>
            <a:ext cx="594360" cy="594360"/>
          </a:xfrm>
          <a:prstGeom prst="ellipse">
            <a:avLst/>
          </a:prstGeom>
          <a:solidFill>
            <a:srgbClr val="4285F4">
              <a:alpha val="20000"/>
            </a:srgbClr>
          </a:solidFill>
          <a:ln cap="flat" cmpd="sng" w="12700">
            <a:solidFill>
              <a:srgbClr val="4285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3" name="Google Shape;83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9544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20"/>
          <p:cNvSpPr/>
          <p:nvPr/>
        </p:nvSpPr>
        <p:spPr>
          <a:xfrm>
            <a:off x="2542032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0"/>
          <p:cNvSpPr/>
          <p:nvPr/>
        </p:nvSpPr>
        <p:spPr>
          <a:xfrm>
            <a:off x="2542032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GCS bucket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36" name="Google Shape;836;p20"/>
          <p:cNvCxnSpPr/>
          <p:nvPr/>
        </p:nvCxnSpPr>
        <p:spPr>
          <a:xfrm>
            <a:off x="4279392" y="246888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37" name="Google Shape;837;p20"/>
          <p:cNvSpPr/>
          <p:nvPr/>
        </p:nvSpPr>
        <p:spPr>
          <a:xfrm>
            <a:off x="4443984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p20"/>
          <p:cNvSpPr/>
          <p:nvPr/>
        </p:nvSpPr>
        <p:spPr>
          <a:xfrm>
            <a:off x="5038344" y="1783080"/>
            <a:ext cx="594360" cy="594360"/>
          </a:xfrm>
          <a:prstGeom prst="ellipse">
            <a:avLst/>
          </a:prstGeom>
          <a:solidFill>
            <a:srgbClr val="1C7293">
              <a:alpha val="20000"/>
            </a:srgbClr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9" name="Google Shape;8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216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0" name="Google Shape;840;p20"/>
          <p:cNvSpPr/>
          <p:nvPr/>
        </p:nvSpPr>
        <p:spPr>
          <a:xfrm>
            <a:off x="4489704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Detect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0"/>
          <p:cNvSpPr/>
          <p:nvPr/>
        </p:nvSpPr>
        <p:spPr>
          <a:xfrm>
            <a:off x="4489704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MIME sniff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2" name="Google Shape;842;p20"/>
          <p:cNvCxnSpPr/>
          <p:nvPr/>
        </p:nvCxnSpPr>
        <p:spPr>
          <a:xfrm>
            <a:off x="6227064" y="246888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3" name="Google Shape;843;p20"/>
          <p:cNvSpPr/>
          <p:nvPr/>
        </p:nvSpPr>
        <p:spPr>
          <a:xfrm>
            <a:off x="6391656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0"/>
          <p:cNvSpPr/>
          <p:nvPr/>
        </p:nvSpPr>
        <p:spPr>
          <a:xfrm>
            <a:off x="6986016" y="1783080"/>
            <a:ext cx="594360" cy="594360"/>
          </a:xfrm>
          <a:prstGeom prst="ellipse">
            <a:avLst/>
          </a:prstGeom>
          <a:solidFill>
            <a:srgbClr val="3776AB">
              <a:alpha val="20000"/>
            </a:srgbClr>
          </a:solidFill>
          <a:ln cap="flat" cmpd="sng" w="12700">
            <a:solidFill>
              <a:srgbClr val="3776A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45" name="Google Shape;84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04888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20"/>
          <p:cNvSpPr/>
          <p:nvPr/>
        </p:nvSpPr>
        <p:spPr>
          <a:xfrm>
            <a:off x="6437376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0"/>
          <p:cNvSpPr/>
          <p:nvPr/>
        </p:nvSpPr>
        <p:spPr>
          <a:xfrm>
            <a:off x="6437376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PDF/DOCX/CSV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8" name="Google Shape;848;p20"/>
          <p:cNvCxnSpPr/>
          <p:nvPr/>
        </p:nvCxnSpPr>
        <p:spPr>
          <a:xfrm>
            <a:off x="8174736" y="246888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49" name="Google Shape;849;p20"/>
          <p:cNvSpPr/>
          <p:nvPr/>
        </p:nvSpPr>
        <p:spPr>
          <a:xfrm>
            <a:off x="8339328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20"/>
          <p:cNvSpPr/>
          <p:nvPr/>
        </p:nvSpPr>
        <p:spPr>
          <a:xfrm>
            <a:off x="8933688" y="1783080"/>
            <a:ext cx="594360" cy="594360"/>
          </a:xfrm>
          <a:prstGeom prst="ellipse">
            <a:avLst/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1" name="Google Shape;851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52560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20"/>
          <p:cNvSpPr/>
          <p:nvPr/>
        </p:nvSpPr>
        <p:spPr>
          <a:xfrm>
            <a:off x="8385048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Chunk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20"/>
          <p:cNvSpPr/>
          <p:nvPr/>
        </p:nvSpPr>
        <p:spPr>
          <a:xfrm>
            <a:off x="8385048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Ordered + meta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54" name="Google Shape;854;p20"/>
          <p:cNvCxnSpPr/>
          <p:nvPr/>
        </p:nvCxnSpPr>
        <p:spPr>
          <a:xfrm>
            <a:off x="10122408" y="2468880"/>
            <a:ext cx="164592" cy="0"/>
          </a:xfrm>
          <a:prstGeom prst="straightConnector1">
            <a:avLst/>
          </a:prstGeom>
          <a:noFill/>
          <a:ln cap="flat" cmpd="sng" w="31750">
            <a:solidFill>
              <a:srgbClr val="F59E0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55" name="Google Shape;855;p20"/>
          <p:cNvSpPr/>
          <p:nvPr/>
        </p:nvSpPr>
        <p:spPr>
          <a:xfrm>
            <a:off x="10287000" y="1554480"/>
            <a:ext cx="1783080" cy="18288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20"/>
          <p:cNvSpPr/>
          <p:nvPr/>
        </p:nvSpPr>
        <p:spPr>
          <a:xfrm>
            <a:off x="10881360" y="1783080"/>
            <a:ext cx="594360" cy="594360"/>
          </a:xfrm>
          <a:prstGeom prst="ellipse">
            <a:avLst/>
          </a:prstGeom>
          <a:solidFill>
            <a:srgbClr val="4169E1">
              <a:alpha val="20000"/>
            </a:srgbClr>
          </a:solidFill>
          <a:ln cap="flat" cmpd="sng" w="12700">
            <a:solidFill>
              <a:srgbClr val="4169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57" name="Google Shape;85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000232" y="1901952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20"/>
          <p:cNvSpPr/>
          <p:nvPr/>
        </p:nvSpPr>
        <p:spPr>
          <a:xfrm>
            <a:off x="10332720" y="2468880"/>
            <a:ext cx="1691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0"/>
          <p:cNvSpPr/>
          <p:nvPr/>
        </p:nvSpPr>
        <p:spPr>
          <a:xfrm>
            <a:off x="10332720" y="2834640"/>
            <a:ext cx="1691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Postgres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0"/>
          <p:cNvSpPr/>
          <p:nvPr/>
        </p:nvSpPr>
        <p:spPr>
          <a:xfrm>
            <a:off x="548640" y="3703320"/>
            <a:ext cx="5486400" cy="274320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61" name="Google Shape;86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77240" y="3886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20"/>
          <p:cNvSpPr/>
          <p:nvPr/>
        </p:nvSpPr>
        <p:spPr>
          <a:xfrm>
            <a:off x="1371600" y="38862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Supported Formats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0"/>
          <p:cNvSpPr/>
          <p:nvPr/>
        </p:nvSpPr>
        <p:spPr>
          <a:xfrm>
            <a:off x="777240" y="4434840"/>
            <a:ext cx="2423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20"/>
          <p:cNvSpPr/>
          <p:nvPr/>
        </p:nvSpPr>
        <p:spPr>
          <a:xfrm>
            <a:off x="914400" y="452628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PDF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0"/>
          <p:cNvSpPr/>
          <p:nvPr/>
        </p:nvSpPr>
        <p:spPr>
          <a:xfrm>
            <a:off x="1737360" y="45262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pypdf · ordered text per page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0"/>
          <p:cNvSpPr/>
          <p:nvPr/>
        </p:nvSpPr>
        <p:spPr>
          <a:xfrm>
            <a:off x="3383280" y="4434840"/>
            <a:ext cx="2423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p20"/>
          <p:cNvSpPr/>
          <p:nvPr/>
        </p:nvSpPr>
        <p:spPr>
          <a:xfrm>
            <a:off x="3520440" y="452628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DOCX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0"/>
          <p:cNvSpPr/>
          <p:nvPr/>
        </p:nvSpPr>
        <p:spPr>
          <a:xfrm>
            <a:off x="4343400" y="45262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python-docx · paragraph + table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0"/>
          <p:cNvSpPr/>
          <p:nvPr/>
        </p:nvSpPr>
        <p:spPr>
          <a:xfrm>
            <a:off x="777240" y="5349240"/>
            <a:ext cx="2423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20"/>
          <p:cNvSpPr/>
          <p:nvPr/>
        </p:nvSpPr>
        <p:spPr>
          <a:xfrm>
            <a:off x="914400" y="544068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CSV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20"/>
          <p:cNvSpPr/>
          <p:nvPr/>
        </p:nvSpPr>
        <p:spPr>
          <a:xfrm>
            <a:off x="1737360" y="54406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pandas-style row chunking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20"/>
          <p:cNvSpPr/>
          <p:nvPr/>
        </p:nvSpPr>
        <p:spPr>
          <a:xfrm>
            <a:off x="3383280" y="5349240"/>
            <a:ext cx="2423160" cy="777240"/>
          </a:xfrm>
          <a:prstGeom prst="roundRect">
            <a:avLst>
              <a:gd fmla="val 9412" name="adj"/>
            </a:avLst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20"/>
          <p:cNvSpPr/>
          <p:nvPr/>
        </p:nvSpPr>
        <p:spPr>
          <a:xfrm>
            <a:off x="3520440" y="5440680"/>
            <a:ext cx="7772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1C7293"/>
                </a:solidFill>
                <a:latin typeface="Consolas"/>
                <a:ea typeface="Consolas"/>
                <a:cs typeface="Consolas"/>
                <a:sym typeface="Consolas"/>
              </a:rPr>
              <a:t>TXT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20"/>
          <p:cNvSpPr/>
          <p:nvPr/>
        </p:nvSpPr>
        <p:spPr>
          <a:xfrm>
            <a:off x="4343400" y="5440680"/>
            <a:ext cx="14173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fallback line-based chunker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20"/>
          <p:cNvSpPr/>
          <p:nvPr/>
        </p:nvSpPr>
        <p:spPr>
          <a:xfrm>
            <a:off x="6309360" y="3703320"/>
            <a:ext cx="5486400" cy="274320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6" name="Google Shape;876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388620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20"/>
          <p:cNvSpPr/>
          <p:nvPr/>
        </p:nvSpPr>
        <p:spPr>
          <a:xfrm>
            <a:off x="7132320" y="3886200"/>
            <a:ext cx="4114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Stack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20"/>
          <p:cNvSpPr/>
          <p:nvPr/>
        </p:nvSpPr>
        <p:spPr>
          <a:xfrm>
            <a:off x="6583680" y="4434840"/>
            <a:ext cx="502920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3.11 · FastAPI · Uvicorn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pypdf · python-docx · csv · lxml fallback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Cloud Run with min-instances=0 (cold OK)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OpenAPI docs at /docs (Swagger UI)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Stdlib + 4 deps · pure async I/O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20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20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20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21"/>
          <p:cNvSpPr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SLIDE 7 · WHAT WE'LL SHOW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21"/>
          <p:cNvSpPr/>
          <p:nvPr/>
        </p:nvSpPr>
        <p:spPr>
          <a:xfrm>
            <a:off x="548640" y="59436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Live Demo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9" name="Google Shape;889;p21"/>
          <p:cNvSpPr/>
          <p:nvPr/>
        </p:nvSpPr>
        <p:spPr>
          <a:xfrm>
            <a:off x="548640" y="1417320"/>
            <a:ext cx="54864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1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21"/>
          <p:cNvSpPr/>
          <p:nvPr/>
        </p:nvSpPr>
        <p:spPr>
          <a:xfrm>
            <a:off x="685800" y="1508760"/>
            <a:ext cx="137160" cy="13716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21"/>
          <p:cNvSpPr/>
          <p:nvPr/>
        </p:nvSpPr>
        <p:spPr>
          <a:xfrm>
            <a:off x="886968" y="1508760"/>
            <a:ext cx="137160" cy="1371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1"/>
          <p:cNvSpPr/>
          <p:nvPr/>
        </p:nvSpPr>
        <p:spPr>
          <a:xfrm>
            <a:off x="1088136" y="1508760"/>
            <a:ext cx="137160" cy="13716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21"/>
          <p:cNvSpPr/>
          <p:nvPr/>
        </p:nvSpPr>
        <p:spPr>
          <a:xfrm>
            <a:off x="1417320" y="1481328"/>
            <a:ext cx="4480560" cy="192024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1"/>
          <p:cNvSpPr/>
          <p:nvPr/>
        </p:nvSpPr>
        <p:spPr>
          <a:xfrm>
            <a:off x="1508760" y="1481328"/>
            <a:ext cx="4297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https://portal.example.com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21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rgbClr val="007DC1">
              <a:alpha val="14901"/>
            </a:srgbClr>
          </a:solidFill>
          <a:ln cap="flat" cmpd="sng" w="12700">
            <a:solidFill>
              <a:srgbClr val="007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7" name="Google Shape;89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2240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898" name="Google Shape;898;p21"/>
          <p:cNvSpPr/>
          <p:nvPr/>
        </p:nvSpPr>
        <p:spPr>
          <a:xfrm>
            <a:off x="2103120" y="20574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Okta SSO Login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21"/>
          <p:cNvSpPr/>
          <p:nvPr/>
        </p:nvSpPr>
        <p:spPr>
          <a:xfrm>
            <a:off x="2103120" y="25146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Hosted widget · MFA · JIT user create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1"/>
          <p:cNvSpPr/>
          <p:nvPr/>
        </p:nvSpPr>
        <p:spPr>
          <a:xfrm>
            <a:off x="2103120" y="3108960"/>
            <a:ext cx="365760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1"/>
          <p:cNvSpPr/>
          <p:nvPr/>
        </p:nvSpPr>
        <p:spPr>
          <a:xfrm>
            <a:off x="2103120" y="3273552"/>
            <a:ext cx="310896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2" name="Google Shape;902;p21"/>
          <p:cNvSpPr/>
          <p:nvPr/>
        </p:nvSpPr>
        <p:spPr>
          <a:xfrm>
            <a:off x="2103120" y="3438144"/>
            <a:ext cx="256032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1"/>
          <p:cNvSpPr/>
          <p:nvPr/>
        </p:nvSpPr>
        <p:spPr>
          <a:xfrm>
            <a:off x="2103120" y="36118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07DC1"/>
          </a:solidFill>
          <a:ln cap="flat" cmpd="sng" w="12700">
            <a:solidFill>
              <a:srgbClr val="007D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21"/>
          <p:cNvSpPr/>
          <p:nvPr/>
        </p:nvSpPr>
        <p:spPr>
          <a:xfrm>
            <a:off x="2103120" y="3611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5" name="Google Shape;905;p21"/>
          <p:cNvSpPr/>
          <p:nvPr/>
        </p:nvSpPr>
        <p:spPr>
          <a:xfrm>
            <a:off x="6263640" y="1417320"/>
            <a:ext cx="54864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21"/>
          <p:cNvSpPr/>
          <p:nvPr/>
        </p:nvSpPr>
        <p:spPr>
          <a:xfrm>
            <a:off x="6263640" y="1417320"/>
            <a:ext cx="5486400" cy="3200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1"/>
          <p:cNvSpPr/>
          <p:nvPr/>
        </p:nvSpPr>
        <p:spPr>
          <a:xfrm>
            <a:off x="6400800" y="1508760"/>
            <a:ext cx="137160" cy="13716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8" name="Google Shape;908;p21"/>
          <p:cNvSpPr/>
          <p:nvPr/>
        </p:nvSpPr>
        <p:spPr>
          <a:xfrm>
            <a:off x="6601968" y="1508760"/>
            <a:ext cx="137160" cy="1371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1"/>
          <p:cNvSpPr/>
          <p:nvPr/>
        </p:nvSpPr>
        <p:spPr>
          <a:xfrm>
            <a:off x="6803136" y="1508760"/>
            <a:ext cx="137160" cy="13716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21"/>
          <p:cNvSpPr/>
          <p:nvPr/>
        </p:nvSpPr>
        <p:spPr>
          <a:xfrm>
            <a:off x="7132320" y="1481328"/>
            <a:ext cx="4480560" cy="192024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1"/>
          <p:cNvSpPr/>
          <p:nvPr/>
        </p:nvSpPr>
        <p:spPr>
          <a:xfrm>
            <a:off x="7223760" y="1481328"/>
            <a:ext cx="4297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https://portal.example.com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1"/>
          <p:cNvSpPr/>
          <p:nvPr/>
        </p:nvSpPr>
        <p:spPr>
          <a:xfrm>
            <a:off x="6629400" y="2057400"/>
            <a:ext cx="914400" cy="914400"/>
          </a:xfrm>
          <a:prstGeom prst="ellipse">
            <a:avLst/>
          </a:prstGeom>
          <a:solidFill>
            <a:srgbClr val="059669">
              <a:alpha val="14901"/>
            </a:srgbClr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3" name="Google Shape;913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12280" y="224028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21"/>
          <p:cNvSpPr/>
          <p:nvPr/>
        </p:nvSpPr>
        <p:spPr>
          <a:xfrm>
            <a:off x="7818120" y="20574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Dashboard KPIs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21"/>
          <p:cNvSpPr/>
          <p:nvPr/>
        </p:nvSpPr>
        <p:spPr>
          <a:xfrm>
            <a:off x="7818120" y="251460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Live charts · cached + streamed via SSE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1"/>
          <p:cNvSpPr/>
          <p:nvPr/>
        </p:nvSpPr>
        <p:spPr>
          <a:xfrm>
            <a:off x="7818120" y="3108960"/>
            <a:ext cx="365760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1"/>
          <p:cNvSpPr/>
          <p:nvPr/>
        </p:nvSpPr>
        <p:spPr>
          <a:xfrm>
            <a:off x="7818120" y="3273552"/>
            <a:ext cx="310896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8" name="Google Shape;918;p21"/>
          <p:cNvSpPr/>
          <p:nvPr/>
        </p:nvSpPr>
        <p:spPr>
          <a:xfrm>
            <a:off x="7818120" y="3438144"/>
            <a:ext cx="256032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1"/>
          <p:cNvSpPr/>
          <p:nvPr/>
        </p:nvSpPr>
        <p:spPr>
          <a:xfrm>
            <a:off x="7818120" y="361188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1"/>
          <p:cNvSpPr/>
          <p:nvPr/>
        </p:nvSpPr>
        <p:spPr>
          <a:xfrm>
            <a:off x="7818120" y="361188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21"/>
          <p:cNvSpPr/>
          <p:nvPr/>
        </p:nvSpPr>
        <p:spPr>
          <a:xfrm>
            <a:off x="548640" y="4023360"/>
            <a:ext cx="54864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2" name="Google Shape;922;p21"/>
          <p:cNvSpPr/>
          <p:nvPr/>
        </p:nvSpPr>
        <p:spPr>
          <a:xfrm>
            <a:off x="548640" y="4023360"/>
            <a:ext cx="5486400" cy="3200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1"/>
          <p:cNvSpPr/>
          <p:nvPr/>
        </p:nvSpPr>
        <p:spPr>
          <a:xfrm>
            <a:off x="685800" y="4114800"/>
            <a:ext cx="137160" cy="13716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1"/>
          <p:cNvSpPr/>
          <p:nvPr/>
        </p:nvSpPr>
        <p:spPr>
          <a:xfrm>
            <a:off x="886968" y="4114800"/>
            <a:ext cx="137160" cy="1371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1"/>
          <p:cNvSpPr/>
          <p:nvPr/>
        </p:nvSpPr>
        <p:spPr>
          <a:xfrm>
            <a:off x="1088136" y="4114800"/>
            <a:ext cx="137160" cy="13716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21"/>
          <p:cNvSpPr/>
          <p:nvPr/>
        </p:nvSpPr>
        <p:spPr>
          <a:xfrm>
            <a:off x="1417320" y="4087368"/>
            <a:ext cx="4480560" cy="192024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1"/>
          <p:cNvSpPr/>
          <p:nvPr/>
        </p:nvSpPr>
        <p:spPr>
          <a:xfrm>
            <a:off x="1508760" y="4087368"/>
            <a:ext cx="4297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https://portal.example.com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1"/>
          <p:cNvSpPr/>
          <p:nvPr/>
        </p:nvSpPr>
        <p:spPr>
          <a:xfrm>
            <a:off x="914400" y="4663440"/>
            <a:ext cx="914400" cy="914400"/>
          </a:xfrm>
          <a:prstGeom prst="ellipse">
            <a:avLst/>
          </a:prstGeom>
          <a:solidFill>
            <a:srgbClr val="7C3AED">
              <a:alpha val="14901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9" name="Google Shape;92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7280" y="4846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21"/>
          <p:cNvSpPr/>
          <p:nvPr/>
        </p:nvSpPr>
        <p:spPr>
          <a:xfrm>
            <a:off x="2103120" y="46634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AI Chat — NL→SQL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21"/>
          <p:cNvSpPr/>
          <p:nvPr/>
        </p:nvSpPr>
        <p:spPr>
          <a:xfrm>
            <a:off x="2103120" y="51206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"Top 5 reps in Q2" → grounded SQL +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1"/>
          <p:cNvSpPr/>
          <p:nvPr/>
        </p:nvSpPr>
        <p:spPr>
          <a:xfrm>
            <a:off x="2103120" y="5715000"/>
            <a:ext cx="365760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1"/>
          <p:cNvSpPr/>
          <p:nvPr/>
        </p:nvSpPr>
        <p:spPr>
          <a:xfrm>
            <a:off x="2103120" y="5879592"/>
            <a:ext cx="310896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21"/>
          <p:cNvSpPr/>
          <p:nvPr/>
        </p:nvSpPr>
        <p:spPr>
          <a:xfrm>
            <a:off x="2103120" y="6044184"/>
            <a:ext cx="256032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1"/>
          <p:cNvSpPr/>
          <p:nvPr/>
        </p:nvSpPr>
        <p:spPr>
          <a:xfrm>
            <a:off x="2103120" y="621792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1"/>
          <p:cNvSpPr/>
          <p:nvPr/>
        </p:nvSpPr>
        <p:spPr>
          <a:xfrm>
            <a:off x="2103120" y="62179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1"/>
          <p:cNvSpPr/>
          <p:nvPr/>
        </p:nvSpPr>
        <p:spPr>
          <a:xfrm>
            <a:off x="6263640" y="4023360"/>
            <a:ext cx="5486400" cy="246888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21"/>
          <p:cNvSpPr/>
          <p:nvPr/>
        </p:nvSpPr>
        <p:spPr>
          <a:xfrm>
            <a:off x="6263640" y="4023360"/>
            <a:ext cx="5486400" cy="320040"/>
          </a:xfrm>
          <a:prstGeom prst="rect">
            <a:avLst/>
          </a:prstGeom>
          <a:solidFill>
            <a:srgbClr val="F4F7FB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1"/>
          <p:cNvSpPr/>
          <p:nvPr/>
        </p:nvSpPr>
        <p:spPr>
          <a:xfrm>
            <a:off x="6400800" y="4114800"/>
            <a:ext cx="137160" cy="137160"/>
          </a:xfrm>
          <a:prstGeom prst="ellipse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1"/>
          <p:cNvSpPr/>
          <p:nvPr/>
        </p:nvSpPr>
        <p:spPr>
          <a:xfrm>
            <a:off x="6601968" y="4114800"/>
            <a:ext cx="137160" cy="137160"/>
          </a:xfrm>
          <a:prstGeom prst="ellipse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>
            <a:off x="6803136" y="4114800"/>
            <a:ext cx="137160" cy="137160"/>
          </a:xfrm>
          <a:prstGeom prst="ellipse">
            <a:avLst/>
          </a:prstGeom>
          <a:solidFill>
            <a:srgbClr val="059669"/>
          </a:solidFill>
          <a:ln cap="flat" cmpd="sng" w="12700">
            <a:solidFill>
              <a:srgbClr val="05966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2" name="Google Shape;942;p21"/>
          <p:cNvSpPr/>
          <p:nvPr/>
        </p:nvSpPr>
        <p:spPr>
          <a:xfrm>
            <a:off x="7132320" y="4087368"/>
            <a:ext cx="4480560" cy="192024"/>
          </a:xfrm>
          <a:prstGeom prst="roundRect">
            <a:avLst>
              <a:gd fmla="val 19048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21"/>
          <p:cNvSpPr/>
          <p:nvPr/>
        </p:nvSpPr>
        <p:spPr>
          <a:xfrm>
            <a:off x="7223760" y="4087368"/>
            <a:ext cx="4297680" cy="1920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onsolas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https://portal.example.com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4" name="Google Shape;944;p21"/>
          <p:cNvSpPr/>
          <p:nvPr/>
        </p:nvSpPr>
        <p:spPr>
          <a:xfrm>
            <a:off x="6629400" y="4663440"/>
            <a:ext cx="914400" cy="914400"/>
          </a:xfrm>
          <a:prstGeom prst="ellipse">
            <a:avLst/>
          </a:prstGeom>
          <a:solidFill>
            <a:srgbClr val="0891B2">
              <a:alpha val="14901"/>
            </a:srgbClr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45" name="Google Shape;945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12280" y="484632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21"/>
          <p:cNvSpPr/>
          <p:nvPr/>
        </p:nvSpPr>
        <p:spPr>
          <a:xfrm>
            <a:off x="7818120" y="46634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Georgia"/>
                <a:ea typeface="Georgia"/>
                <a:cs typeface="Georgia"/>
                <a:sym typeface="Georgia"/>
              </a:rPr>
              <a:t>File Upload + Q&amp;A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21"/>
          <p:cNvSpPr/>
          <p:nvPr/>
        </p:nvSpPr>
        <p:spPr>
          <a:xfrm>
            <a:off x="7818120" y="5120640"/>
            <a:ext cx="3749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Drag PDF · parse · ask grounded questions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1"/>
          <p:cNvSpPr/>
          <p:nvPr/>
        </p:nvSpPr>
        <p:spPr>
          <a:xfrm>
            <a:off x="7818120" y="5715000"/>
            <a:ext cx="365760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21"/>
          <p:cNvSpPr/>
          <p:nvPr/>
        </p:nvSpPr>
        <p:spPr>
          <a:xfrm>
            <a:off x="7818120" y="5879592"/>
            <a:ext cx="310896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7818120" y="6044184"/>
            <a:ext cx="2560320" cy="73152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1"/>
          <p:cNvSpPr/>
          <p:nvPr/>
        </p:nvSpPr>
        <p:spPr>
          <a:xfrm>
            <a:off x="7818120" y="6217920"/>
            <a:ext cx="1097280" cy="201168"/>
          </a:xfrm>
          <a:prstGeom prst="roundRect">
            <a:avLst>
              <a:gd fmla="val 18182" name="adj"/>
            </a:avLst>
          </a:prstGeom>
          <a:solidFill>
            <a:srgbClr val="0891B2"/>
          </a:solidFill>
          <a:ln cap="flat" cmpd="sng" w="12700">
            <a:solidFill>
              <a:srgbClr val="0891B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7818120" y="6217920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View 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0B1E3F"/>
          </a:solidFill>
          <a:ln cap="flat" cmpd="sng" w="12700">
            <a:solidFill>
              <a:srgbClr val="0B1E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>
            <a:off x="365760" y="667512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 ·  CMPE-282 — Enterprise Knowledge Portal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1"/>
          <p:cNvSpPr/>
          <p:nvPr/>
        </p:nvSpPr>
        <p:spPr>
          <a:xfrm>
            <a:off x="11430000" y="6675120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 / 18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E3F"/>
        </a:solidFill>
      </p:bgPr>
    </p:bg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22"/>
          <p:cNvSpPr/>
          <p:nvPr/>
        </p:nvSpPr>
        <p:spPr>
          <a:xfrm>
            <a:off x="-2743200" y="-2743200"/>
            <a:ext cx="8229600" cy="8229600"/>
          </a:xfrm>
          <a:prstGeom prst="ellipse">
            <a:avLst/>
          </a:prstGeom>
          <a:solidFill>
            <a:srgbClr val="065A82">
              <a:alpha val="30196"/>
            </a:srgbClr>
          </a:solidFill>
          <a:ln cap="flat" cmpd="sng" w="12700">
            <a:solidFill>
              <a:srgbClr val="065A8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2"/>
          <p:cNvSpPr/>
          <p:nvPr/>
        </p:nvSpPr>
        <p:spPr>
          <a:xfrm>
            <a:off x="6858000" y="3657600"/>
            <a:ext cx="7315200" cy="7315200"/>
          </a:xfrm>
          <a:prstGeom prst="ellipse">
            <a:avLst/>
          </a:prstGeom>
          <a:solidFill>
            <a:srgbClr val="1C7293">
              <a:alpha val="25098"/>
            </a:srgbClr>
          </a:solidFill>
          <a:ln cap="flat" cmpd="sng" w="12700">
            <a:solidFill>
              <a:srgbClr val="1C7293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22"/>
          <p:cNvSpPr/>
          <p:nvPr/>
        </p:nvSpPr>
        <p:spPr>
          <a:xfrm>
            <a:off x="548640" y="137160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Georgia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Thank You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22"/>
          <p:cNvSpPr/>
          <p:nvPr/>
        </p:nvSpPr>
        <p:spPr>
          <a:xfrm>
            <a:off x="548640" y="2743200"/>
            <a:ext cx="1097280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2"/>
          <p:cNvSpPr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3600"/>
              <a:buFont typeface="Georgia"/>
              <a:buNone/>
            </a:pPr>
            <a:r>
              <a:rPr b="0" i="1" lang="en-US" sz="3600" u="none" cap="none" strike="noStrike">
                <a:solidFill>
                  <a:srgbClr val="F59E0B"/>
                </a:solidFill>
                <a:latin typeface="Georgia"/>
                <a:ea typeface="Georgia"/>
                <a:cs typeface="Georgia"/>
                <a:sym typeface="Georgia"/>
              </a:rPr>
              <a:t>Questions?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22"/>
          <p:cNvSpPr/>
          <p:nvPr/>
        </p:nvSpPr>
        <p:spPr>
          <a:xfrm>
            <a:off x="548640" y="3749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Serverless Squad — CMPE-282 — Spring 2026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2"/>
          <p:cNvSpPr/>
          <p:nvPr/>
        </p:nvSpPr>
        <p:spPr>
          <a:xfrm>
            <a:off x="548640" y="438912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68" name="Google Shape;96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448056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22"/>
          <p:cNvSpPr/>
          <p:nvPr/>
        </p:nvSpPr>
        <p:spPr>
          <a:xfrm>
            <a:off x="1097280" y="438912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github.com/Nihar4/CMPE-282_Term_Project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22"/>
          <p:cNvSpPr/>
          <p:nvPr/>
        </p:nvSpPr>
        <p:spPr>
          <a:xfrm>
            <a:off x="548640" y="489204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1" name="Google Shape;97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" y="49834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2" name="Google Shape;972;p22"/>
          <p:cNvSpPr/>
          <p:nvPr/>
        </p:nvSpPr>
        <p:spPr>
          <a:xfrm>
            <a:off x="1097280" y="489204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docs/ — full report +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2"/>
          <p:cNvSpPr/>
          <p:nvPr/>
        </p:nvSpPr>
        <p:spPr>
          <a:xfrm>
            <a:off x="548640" y="5394960"/>
            <a:ext cx="411480" cy="41148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4" name="Google Shape;97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0080" y="548640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5" name="Google Shape;975;p22"/>
          <p:cNvSpPr/>
          <p:nvPr/>
        </p:nvSpPr>
        <p:spPr>
          <a:xfrm>
            <a:off x="1097280" y="539496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demo: portal.example.com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2"/>
          <p:cNvSpPr/>
          <p:nvPr/>
        </p:nvSpPr>
        <p:spPr>
          <a:xfrm>
            <a:off x="7772400" y="5943600"/>
            <a:ext cx="777240" cy="777240"/>
          </a:xfrm>
          <a:prstGeom prst="ellipse">
            <a:avLst/>
          </a:prstGeom>
          <a:solidFill>
            <a:srgbClr val="F59E0B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22"/>
          <p:cNvSpPr/>
          <p:nvPr/>
        </p:nvSpPr>
        <p:spPr>
          <a:xfrm>
            <a:off x="7772400" y="5943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22"/>
          <p:cNvSpPr/>
          <p:nvPr/>
        </p:nvSpPr>
        <p:spPr>
          <a:xfrm>
            <a:off x="8823960" y="5943600"/>
            <a:ext cx="777240" cy="777240"/>
          </a:xfrm>
          <a:prstGeom prst="ellipse">
            <a:avLst/>
          </a:prstGeom>
          <a:solidFill>
            <a:srgbClr val="DC2626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22"/>
          <p:cNvSpPr/>
          <p:nvPr/>
        </p:nvSpPr>
        <p:spPr>
          <a:xfrm>
            <a:off x="8823960" y="5943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2"/>
          <p:cNvSpPr/>
          <p:nvPr/>
        </p:nvSpPr>
        <p:spPr>
          <a:xfrm>
            <a:off x="9875520" y="5943600"/>
            <a:ext cx="777240" cy="777240"/>
          </a:xfrm>
          <a:prstGeom prst="ellipse">
            <a:avLst/>
          </a:prstGeom>
          <a:solidFill>
            <a:srgbClr val="1C7293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2"/>
          <p:cNvSpPr/>
          <p:nvPr/>
        </p:nvSpPr>
        <p:spPr>
          <a:xfrm>
            <a:off x="9875520" y="5943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22"/>
          <p:cNvSpPr/>
          <p:nvPr/>
        </p:nvSpPr>
        <p:spPr>
          <a:xfrm>
            <a:off x="10927080" y="5943600"/>
            <a:ext cx="777240" cy="777240"/>
          </a:xfrm>
          <a:prstGeom prst="ellipse">
            <a:avLst/>
          </a:prstGeom>
          <a:solidFill>
            <a:srgbClr val="059669"/>
          </a:solidFill>
          <a:ln cap="flat" cmpd="sng" w="254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22"/>
          <p:cNvSpPr/>
          <p:nvPr/>
        </p:nvSpPr>
        <p:spPr>
          <a:xfrm>
            <a:off x="10927080" y="594360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